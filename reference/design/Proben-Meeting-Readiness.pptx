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8288000" cy="10287000"/>
  <p:notesSz cx="10287000" cy="1828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6F7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219181" y="1705477"/>
            <a:ext cx="438113" cy="85669"/>
          </a:xfrm>
          <a:prstGeom prst="roundRect">
            <a:avLst>
              <a:gd name="adj" fmla="val 33355"/>
            </a:avLst>
          </a:prstGeom>
          <a:solidFill>
            <a:srgbClr val="639922"/>
          </a:solidFill>
          <a:ln/>
        </p:spPr>
      </p:sp>
      <p:sp>
        <p:nvSpPr>
          <p:cNvPr id="3" name="Shape 1"/>
          <p:cNvSpPr/>
          <p:nvPr/>
        </p:nvSpPr>
        <p:spPr>
          <a:xfrm>
            <a:off x="1219181" y="1829191"/>
            <a:ext cx="361931" cy="85669"/>
          </a:xfrm>
          <a:prstGeom prst="roundRect">
            <a:avLst>
              <a:gd name="adj" fmla="val 33355"/>
            </a:avLst>
          </a:prstGeom>
          <a:solidFill>
            <a:srgbClr val="A8A69C"/>
          </a:solidFill>
          <a:ln/>
        </p:spPr>
      </p:sp>
      <p:sp>
        <p:nvSpPr>
          <p:cNvPr id="4" name="Shape 2"/>
          <p:cNvSpPr/>
          <p:nvPr/>
        </p:nvSpPr>
        <p:spPr>
          <a:xfrm>
            <a:off x="1219181" y="1952904"/>
            <a:ext cx="285750" cy="85669"/>
          </a:xfrm>
          <a:prstGeom prst="roundRect">
            <a:avLst>
              <a:gd name="adj" fmla="val 33355"/>
            </a:avLst>
          </a:prstGeom>
          <a:solidFill>
            <a:srgbClr val="C2C0B6"/>
          </a:solidFill>
          <a:ln/>
        </p:spPr>
      </p:sp>
      <p:sp>
        <p:nvSpPr>
          <p:cNvPr id="5" name="Text 3"/>
          <p:cNvSpPr/>
          <p:nvPr/>
        </p:nvSpPr>
        <p:spPr>
          <a:xfrm>
            <a:off x="1828726" y="1625017"/>
            <a:ext cx="1258825" cy="53220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000" b="1" spc="-60" kern="0" dirty="0">
                <a:solidFill>
                  <a:srgbClr val="1324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Proben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3239895" y="1791705"/>
            <a:ext cx="1922413" cy="19883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spc="180" kern="0" dirty="0">
                <a:solidFill>
                  <a:srgbClr val="8A94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MEETING READINESS</a:t>
            </a:r>
            <a:endParaRPr lang="en-US" sz="1125" dirty="0"/>
          </a:p>
        </p:txBody>
      </p:sp>
      <p:sp>
        <p:nvSpPr>
          <p:cNvPr id="7" name="Text 5"/>
          <p:cNvSpPr/>
          <p:nvPr/>
        </p:nvSpPr>
        <p:spPr>
          <a:xfrm>
            <a:off x="1219181" y="2633421"/>
            <a:ext cx="16325126" cy="2702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425" spc="314" kern="0" dirty="0">
                <a:solidFill>
                  <a:srgbClr val="5563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CONTEXT READINESS BEFORE IMPORTANT MEETINGS</a:t>
            </a:r>
            <a:endParaRPr lang="en-US" sz="1425" dirty="0"/>
          </a:p>
        </p:txBody>
      </p:sp>
      <p:sp>
        <p:nvSpPr>
          <p:cNvPr id="8" name="Text 6"/>
          <p:cNvSpPr/>
          <p:nvPr/>
        </p:nvSpPr>
        <p:spPr>
          <a:xfrm>
            <a:off x="1219181" y="3151343"/>
            <a:ext cx="13735050" cy="237581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8850" b="1" spc="-221" kern="0" dirty="0">
                <a:solidFill>
                  <a:srgbClr val="1324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Know what to fix before the meeting starts.</a:t>
            </a:r>
            <a:endParaRPr lang="en-US" sz="8850" dirty="0"/>
          </a:p>
        </p:txBody>
      </p:sp>
      <p:sp>
        <p:nvSpPr>
          <p:cNvPr id="9" name="Text 7"/>
          <p:cNvSpPr/>
          <p:nvPr/>
        </p:nvSpPr>
        <p:spPr>
          <a:xfrm>
            <a:off x="1219181" y="5889036"/>
            <a:ext cx="10399395" cy="149559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2550" dirty="0">
                <a:solidFill>
                  <a:srgbClr val="5F6B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Paste rough meeting context. Proben checks your goal, strategy, evidence, stakeholder risk, and decision ask — then shows what to fix before the room does.</a:t>
            </a:r>
            <a:endParaRPr lang="en-US" sz="2550" dirty="0"/>
          </a:p>
        </p:txBody>
      </p:sp>
      <p:sp>
        <p:nvSpPr>
          <p:cNvPr id="10" name="Shape 8"/>
          <p:cNvSpPr/>
          <p:nvPr/>
        </p:nvSpPr>
        <p:spPr>
          <a:xfrm>
            <a:off x="1219181" y="7879891"/>
            <a:ext cx="3616058" cy="782092"/>
          </a:xfrm>
          <a:prstGeom prst="roundRect">
            <a:avLst>
              <a:gd name="adj" fmla="val 17050"/>
            </a:avLst>
          </a:prstGeom>
          <a:solidFill>
            <a:srgbClr val="A6C94A"/>
          </a:solidFill>
          <a:ln/>
        </p:spPr>
      </p:sp>
      <p:sp>
        <p:nvSpPr>
          <p:cNvPr id="11" name="Text 9"/>
          <p:cNvSpPr/>
          <p:nvPr/>
        </p:nvSpPr>
        <p:spPr>
          <a:xfrm>
            <a:off x="1587085" y="8095394"/>
            <a:ext cx="2988734" cy="38918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1B2A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Run readiness check →</a:t>
            </a:r>
            <a:endParaRPr lang="en-US" sz="2100" dirty="0"/>
          </a:p>
        </p:txBody>
      </p:sp>
      <p:sp>
        <p:nvSpPr>
          <p:cNvPr id="12" name="Shape 10"/>
          <p:cNvSpPr/>
          <p:nvPr/>
        </p:nvSpPr>
        <p:spPr>
          <a:xfrm>
            <a:off x="5025740" y="7879891"/>
            <a:ext cx="2945495" cy="782092"/>
          </a:xfrm>
          <a:prstGeom prst="roundRect">
            <a:avLst>
              <a:gd name="adj" fmla="val 17050"/>
            </a:avLst>
          </a:prstGeom>
          <a:solidFill>
            <a:srgbClr val="FFFFFF"/>
          </a:solidFill>
          <a:ln w="5953">
            <a:solidFill>
              <a:srgbClr val="CAD3C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393643" y="8095394"/>
            <a:ext cx="2298053" cy="38918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1324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See sample report</a:t>
            </a:r>
            <a:endParaRPr lang="en-US" sz="2100" dirty="0"/>
          </a:p>
        </p:txBody>
      </p:sp>
      <p:sp>
        <p:nvSpPr>
          <p:cNvPr id="14" name="Text 12"/>
          <p:cNvSpPr/>
          <p:nvPr/>
        </p:nvSpPr>
        <p:spPr>
          <a:xfrm>
            <a:off x="1219181" y="9569090"/>
            <a:ext cx="950751" cy="22264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275" dirty="0">
                <a:solidFill>
                  <a:srgbClr val="2E3C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PROBEN.IO</a:t>
            </a:r>
            <a:endParaRPr lang="en-US" sz="1275" dirty="0"/>
          </a:p>
        </p:txBody>
      </p:sp>
      <p:sp>
        <p:nvSpPr>
          <p:cNvPr id="15" name="Text 13"/>
          <p:cNvSpPr/>
          <p:nvPr/>
        </p:nvSpPr>
        <p:spPr>
          <a:xfrm>
            <a:off x="16388581" y="9569090"/>
            <a:ext cx="756438" cy="22264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75" dirty="0">
                <a:solidFill>
                  <a:srgbClr val="8A94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 / 09</a:t>
            </a:r>
            <a:endParaRPr lang="en-US" sz="1275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6F7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219181" y="1047750"/>
            <a:ext cx="16325126" cy="2702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425" spc="314" kern="0" dirty="0">
                <a:solidFill>
                  <a:srgbClr val="5563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 PROBLEM</a:t>
            </a:r>
            <a:endParaRPr lang="en-US" sz="1425" dirty="0"/>
          </a:p>
        </p:txBody>
      </p:sp>
      <p:sp>
        <p:nvSpPr>
          <p:cNvPr id="3" name="Text 1"/>
          <p:cNvSpPr/>
          <p:nvPr/>
        </p:nvSpPr>
        <p:spPr>
          <a:xfrm>
            <a:off x="1219181" y="1604342"/>
            <a:ext cx="12753975" cy="158330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5850" b="1" spc="-146" kern="0" dirty="0">
                <a:solidFill>
                  <a:srgbClr val="1324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Most meetings are lost before they start.</a:t>
            </a:r>
            <a:endParaRPr lang="en-US" sz="5850" dirty="0"/>
          </a:p>
        </p:txBody>
      </p:sp>
      <p:sp>
        <p:nvSpPr>
          <p:cNvPr id="4" name="Text 2"/>
          <p:cNvSpPr/>
          <p:nvPr/>
        </p:nvSpPr>
        <p:spPr>
          <a:xfrm>
            <a:off x="1219181" y="3456530"/>
            <a:ext cx="9810750" cy="1323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2250" dirty="0">
                <a:solidFill>
                  <a:srgbClr val="5F6B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Your context is scattered across docs, threads, and your head. You walk in unsure what will be challenged — and the gaps surface in the room, not before it.</a:t>
            </a:r>
            <a:endParaRPr lang="en-US" sz="2250" dirty="0"/>
          </a:p>
        </p:txBody>
      </p:sp>
      <p:sp>
        <p:nvSpPr>
          <p:cNvPr id="5" name="Shape 3"/>
          <p:cNvSpPr/>
          <p:nvPr/>
        </p:nvSpPr>
        <p:spPr>
          <a:xfrm>
            <a:off x="1219181" y="5471011"/>
            <a:ext cx="5105363" cy="2764203"/>
          </a:xfrm>
          <a:prstGeom prst="roundRect">
            <a:avLst>
              <a:gd name="adj" fmla="val 6203"/>
            </a:avLst>
          </a:prstGeom>
          <a:solidFill>
            <a:srgbClr val="FFFFFF"/>
          </a:solidFill>
          <a:ln w="5953">
            <a:solidFill>
              <a:srgbClr val="28281E">
                <a:alpha val="10000"/>
              </a:srgbClr>
            </a:solidFill>
            <a:prstDash val="solid"/>
          </a:ln>
          <a:effectLst>
            <a:outerShdw sx="100000" sy="100000" kx="0" ky="0" algn="bl" rotWithShape="0" blurRad="476250" dist="190500" dir="5400000">
              <a:srgbClr val="283C5A">
                <a:alpha val="3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1625110" y="5876940"/>
            <a:ext cx="4422311" cy="61555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450" dirty="0">
                <a:solidFill>
                  <a:srgbClr val="1324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🗂️</a:t>
            </a:r>
            <a:endParaRPr lang="en-US" sz="3450" dirty="0"/>
          </a:p>
        </p:txBody>
      </p:sp>
      <p:sp>
        <p:nvSpPr>
          <p:cNvPr id="7" name="Text 5"/>
          <p:cNvSpPr/>
          <p:nvPr/>
        </p:nvSpPr>
        <p:spPr>
          <a:xfrm>
            <a:off x="1625110" y="6663869"/>
            <a:ext cx="4422311" cy="41314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b="1" dirty="0">
                <a:solidFill>
                  <a:srgbClr val="1324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Scattered context</a:t>
            </a:r>
            <a:endParaRPr lang="en-US" sz="2250" dirty="0"/>
          </a:p>
        </p:txBody>
      </p:sp>
      <p:sp>
        <p:nvSpPr>
          <p:cNvPr id="8" name="Text 6"/>
          <p:cNvSpPr/>
          <p:nvPr/>
        </p:nvSpPr>
        <p:spPr>
          <a:xfrm>
            <a:off x="1625110" y="7172210"/>
            <a:ext cx="4422311" cy="69517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725" dirty="0">
                <a:solidFill>
                  <a:srgbClr val="5F6B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Strategy, metrics, and stakeholder input live in five different places.</a:t>
            </a:r>
            <a:endParaRPr lang="en-US" sz="1725" dirty="0"/>
          </a:p>
        </p:txBody>
      </p:sp>
      <p:sp>
        <p:nvSpPr>
          <p:cNvPr id="9" name="Shape 7"/>
          <p:cNvSpPr/>
          <p:nvPr/>
        </p:nvSpPr>
        <p:spPr>
          <a:xfrm>
            <a:off x="6591226" y="5471011"/>
            <a:ext cx="5105456" cy="2764203"/>
          </a:xfrm>
          <a:prstGeom prst="roundRect">
            <a:avLst>
              <a:gd name="adj" fmla="val 6203"/>
            </a:avLst>
          </a:prstGeom>
          <a:solidFill>
            <a:srgbClr val="FFFFFF"/>
          </a:solidFill>
          <a:ln w="5953">
            <a:solidFill>
              <a:srgbClr val="28281E">
                <a:alpha val="10000"/>
              </a:srgbClr>
            </a:solidFill>
            <a:prstDash val="solid"/>
          </a:ln>
          <a:effectLst>
            <a:outerShdw sx="100000" sy="100000" kx="0" ky="0" algn="bl" rotWithShape="0" blurRad="476250" dist="190500" dir="5400000">
              <a:srgbClr val="283C5A">
                <a:alpha val="3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6997154" y="5876940"/>
            <a:ext cx="4422406" cy="61555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450" dirty="0">
                <a:solidFill>
                  <a:srgbClr val="1324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❓</a:t>
            </a:r>
            <a:endParaRPr lang="en-US" sz="3450" dirty="0"/>
          </a:p>
        </p:txBody>
      </p:sp>
      <p:sp>
        <p:nvSpPr>
          <p:cNvPr id="11" name="Text 9"/>
          <p:cNvSpPr/>
          <p:nvPr/>
        </p:nvSpPr>
        <p:spPr>
          <a:xfrm>
            <a:off x="6997154" y="6663869"/>
            <a:ext cx="4422406" cy="41314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b="1" dirty="0">
                <a:solidFill>
                  <a:srgbClr val="1324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Unseen objections</a:t>
            </a:r>
            <a:endParaRPr lang="en-US" sz="2250" dirty="0"/>
          </a:p>
        </p:txBody>
      </p:sp>
      <p:sp>
        <p:nvSpPr>
          <p:cNvPr id="12" name="Text 10"/>
          <p:cNvSpPr/>
          <p:nvPr/>
        </p:nvSpPr>
        <p:spPr>
          <a:xfrm>
            <a:off x="6997154" y="7172210"/>
            <a:ext cx="4422406" cy="69517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725" dirty="0">
                <a:solidFill>
                  <a:srgbClr val="5F6B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 can't prepare for the pushback you didn't know was coming.</a:t>
            </a:r>
            <a:endParaRPr lang="en-US" sz="1725" dirty="0"/>
          </a:p>
        </p:txBody>
      </p:sp>
      <p:sp>
        <p:nvSpPr>
          <p:cNvPr id="13" name="Shape 11"/>
          <p:cNvSpPr/>
          <p:nvPr/>
        </p:nvSpPr>
        <p:spPr>
          <a:xfrm>
            <a:off x="11963363" y="5471011"/>
            <a:ext cx="5105456" cy="2764203"/>
          </a:xfrm>
          <a:prstGeom prst="roundRect">
            <a:avLst>
              <a:gd name="adj" fmla="val 6203"/>
            </a:avLst>
          </a:prstGeom>
          <a:solidFill>
            <a:srgbClr val="FFFFFF"/>
          </a:solidFill>
          <a:ln w="5953">
            <a:solidFill>
              <a:srgbClr val="28281E">
                <a:alpha val="10000"/>
              </a:srgbClr>
            </a:solidFill>
            <a:prstDash val="solid"/>
          </a:ln>
          <a:effectLst>
            <a:outerShdw sx="100000" sy="100000" kx="0" ky="0" algn="bl" rotWithShape="0" blurRad="476250" dist="190500" dir="5400000">
              <a:srgbClr val="283C5A">
                <a:alpha val="3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12369292" y="5876940"/>
            <a:ext cx="4422406" cy="61555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450" dirty="0">
                <a:solidFill>
                  <a:srgbClr val="1324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⏱️</a:t>
            </a:r>
            <a:endParaRPr lang="en-US" sz="3450" dirty="0"/>
          </a:p>
        </p:txBody>
      </p:sp>
      <p:sp>
        <p:nvSpPr>
          <p:cNvPr id="15" name="Text 13"/>
          <p:cNvSpPr/>
          <p:nvPr/>
        </p:nvSpPr>
        <p:spPr>
          <a:xfrm>
            <a:off x="12369292" y="6663869"/>
            <a:ext cx="4422406" cy="41314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b="1" dirty="0">
                <a:solidFill>
                  <a:srgbClr val="1324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time to rehearse</a:t>
            </a:r>
            <a:endParaRPr lang="en-US" sz="2250" dirty="0"/>
          </a:p>
        </p:txBody>
      </p:sp>
      <p:sp>
        <p:nvSpPr>
          <p:cNvPr id="16" name="Text 14"/>
          <p:cNvSpPr/>
          <p:nvPr/>
        </p:nvSpPr>
        <p:spPr>
          <a:xfrm>
            <a:off x="12369292" y="7172210"/>
            <a:ext cx="4422406" cy="69517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725" dirty="0">
                <a:solidFill>
                  <a:srgbClr val="5F6B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Prep happens in the hallway, minutes before the decision.</a:t>
            </a:r>
            <a:endParaRPr lang="en-US" sz="1725" dirty="0"/>
          </a:p>
        </p:txBody>
      </p:sp>
      <p:sp>
        <p:nvSpPr>
          <p:cNvPr id="17" name="Text 15"/>
          <p:cNvSpPr/>
          <p:nvPr/>
        </p:nvSpPr>
        <p:spPr>
          <a:xfrm>
            <a:off x="1219181" y="9569090"/>
            <a:ext cx="950751" cy="22264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275" dirty="0">
                <a:solidFill>
                  <a:srgbClr val="2E3C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PROBEN.IO</a:t>
            </a:r>
            <a:endParaRPr lang="en-US" sz="1275" dirty="0"/>
          </a:p>
        </p:txBody>
      </p:sp>
      <p:sp>
        <p:nvSpPr>
          <p:cNvPr id="18" name="Text 16"/>
          <p:cNvSpPr/>
          <p:nvPr/>
        </p:nvSpPr>
        <p:spPr>
          <a:xfrm>
            <a:off x="16388581" y="9569090"/>
            <a:ext cx="756438" cy="22264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75" dirty="0">
                <a:solidFill>
                  <a:srgbClr val="8A94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 / 09</a:t>
            </a:r>
            <a:endParaRPr lang="en-US" sz="1275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6F7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219181" y="1047750"/>
            <a:ext cx="16325126" cy="2702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425" spc="314" kern="0" dirty="0">
                <a:solidFill>
                  <a:srgbClr val="5563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WHAT PROBEN DOES</a:t>
            </a:r>
            <a:endParaRPr lang="en-US" sz="1425" dirty="0"/>
          </a:p>
        </p:txBody>
      </p:sp>
      <p:sp>
        <p:nvSpPr>
          <p:cNvPr id="3" name="Text 1"/>
          <p:cNvSpPr/>
          <p:nvPr/>
        </p:nvSpPr>
        <p:spPr>
          <a:xfrm>
            <a:off x="1219181" y="1604097"/>
            <a:ext cx="12950190" cy="16229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6000" b="1" spc="-150" kern="0" dirty="0">
                <a:solidFill>
                  <a:srgbClr val="1324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Paste context. See what's missing. Practice the hard part.</a:t>
            </a:r>
            <a:endParaRPr lang="en-US" sz="6000" dirty="0"/>
          </a:p>
        </p:txBody>
      </p:sp>
      <p:sp>
        <p:nvSpPr>
          <p:cNvPr id="4" name="Text 2"/>
          <p:cNvSpPr/>
          <p:nvPr/>
        </p:nvSpPr>
        <p:spPr>
          <a:xfrm>
            <a:off x="1219181" y="3514581"/>
            <a:ext cx="9810750" cy="895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2250" dirty="0">
                <a:solidFill>
                  <a:srgbClr val="5F6B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readiness check in about three minutes — no account, no perfect document required.</a:t>
            </a:r>
            <a:endParaRPr lang="en-US" sz="2250" dirty="0"/>
          </a:p>
        </p:txBody>
      </p:sp>
      <p:sp>
        <p:nvSpPr>
          <p:cNvPr id="5" name="Shape 3"/>
          <p:cNvSpPr/>
          <p:nvPr/>
        </p:nvSpPr>
        <p:spPr>
          <a:xfrm>
            <a:off x="1219181" y="5233202"/>
            <a:ext cx="4559257" cy="2477337"/>
          </a:xfrm>
          <a:prstGeom prst="roundRect">
            <a:avLst>
              <a:gd name="adj" fmla="val 6921"/>
            </a:avLst>
          </a:prstGeom>
          <a:solidFill>
            <a:srgbClr val="FFFFFF"/>
          </a:solidFill>
          <a:ln w="5953">
            <a:solidFill>
              <a:srgbClr val="28281E">
                <a:alpha val="10000"/>
              </a:srgbClr>
            </a:solidFill>
            <a:prstDash val="solid"/>
          </a:ln>
          <a:effectLst>
            <a:outerShdw sx="100000" sy="100000" kx="0" ky="0" algn="bl" rotWithShape="0" blurRad="476250" dist="190500" dir="5400000">
              <a:srgbClr val="283C5A">
                <a:alpha val="3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1608180" y="5677268"/>
            <a:ext cx="3781258" cy="21074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200" spc="192" kern="0" dirty="0">
                <a:solidFill>
                  <a:srgbClr val="8A94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 — INPUT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608180" y="6059384"/>
            <a:ext cx="3781258" cy="45481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2550" b="1" dirty="0">
                <a:solidFill>
                  <a:srgbClr val="1324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Rough context</a:t>
            </a:r>
            <a:endParaRPr lang="en-US" sz="2550" dirty="0"/>
          </a:p>
        </p:txBody>
      </p:sp>
      <p:sp>
        <p:nvSpPr>
          <p:cNvPr id="8" name="Text 6"/>
          <p:cNvSpPr/>
          <p:nvPr/>
        </p:nvSpPr>
        <p:spPr>
          <a:xfrm>
            <a:off x="1608180" y="6609398"/>
            <a:ext cx="3781258" cy="69517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en-US" sz="1725" dirty="0">
                <a:solidFill>
                  <a:srgbClr val="5F6B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Notes, agenda, a draft answer, or a plain-English summary.</a:t>
            </a:r>
            <a:endParaRPr lang="en-US" sz="1725" dirty="0"/>
          </a:p>
        </p:txBody>
      </p:sp>
      <p:sp>
        <p:nvSpPr>
          <p:cNvPr id="9" name="Text 7"/>
          <p:cNvSpPr/>
          <p:nvPr/>
        </p:nvSpPr>
        <p:spPr>
          <a:xfrm>
            <a:off x="6064188" y="6177145"/>
            <a:ext cx="590587" cy="62745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4050" dirty="0">
                <a:solidFill>
                  <a:srgbClr val="8A94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4050" dirty="0"/>
          </a:p>
        </p:txBody>
      </p:sp>
      <p:sp>
        <p:nvSpPr>
          <p:cNvPr id="10" name="Shape 8"/>
          <p:cNvSpPr/>
          <p:nvPr/>
        </p:nvSpPr>
        <p:spPr>
          <a:xfrm>
            <a:off x="6864325" y="5233202"/>
            <a:ext cx="4559257" cy="2477337"/>
          </a:xfrm>
          <a:prstGeom prst="roundRect">
            <a:avLst>
              <a:gd name="adj" fmla="val 692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476250" dist="190500" dir="5400000">
              <a:srgbClr val="283C5A">
                <a:alpha val="3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7253324" y="5677268"/>
            <a:ext cx="3781258" cy="21074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200" spc="192" kern="0" dirty="0">
                <a:solidFill>
                  <a:srgbClr val="5563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 — PROBEN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7253324" y="6059384"/>
            <a:ext cx="3781258" cy="45481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2550" b="1" dirty="0">
                <a:solidFill>
                  <a:srgbClr val="1324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Readiness scan</a:t>
            </a:r>
            <a:endParaRPr lang="en-US" sz="2550" dirty="0"/>
          </a:p>
        </p:txBody>
      </p:sp>
      <p:sp>
        <p:nvSpPr>
          <p:cNvPr id="13" name="Text 11"/>
          <p:cNvSpPr/>
          <p:nvPr/>
        </p:nvSpPr>
        <p:spPr>
          <a:xfrm>
            <a:off x="7253324" y="6609398"/>
            <a:ext cx="3781258" cy="69517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en-US" sz="1725" dirty="0">
                <a:solidFill>
                  <a:srgbClr val="5F6B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Five checks across argument, evidence, and stakeholder risk.</a:t>
            </a:r>
            <a:endParaRPr lang="en-US" sz="1725" dirty="0"/>
          </a:p>
        </p:txBody>
      </p:sp>
      <p:sp>
        <p:nvSpPr>
          <p:cNvPr id="14" name="Text 12"/>
          <p:cNvSpPr/>
          <p:nvPr/>
        </p:nvSpPr>
        <p:spPr>
          <a:xfrm>
            <a:off x="11709332" y="6177145"/>
            <a:ext cx="590680" cy="62745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4050" dirty="0">
                <a:solidFill>
                  <a:srgbClr val="8A94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4050" dirty="0"/>
          </a:p>
        </p:txBody>
      </p:sp>
      <p:sp>
        <p:nvSpPr>
          <p:cNvPr id="15" name="Shape 13"/>
          <p:cNvSpPr/>
          <p:nvPr/>
        </p:nvSpPr>
        <p:spPr>
          <a:xfrm>
            <a:off x="12509562" y="5233202"/>
            <a:ext cx="4559257" cy="2477337"/>
          </a:xfrm>
          <a:prstGeom prst="roundRect">
            <a:avLst>
              <a:gd name="adj" fmla="val 6921"/>
            </a:avLst>
          </a:prstGeom>
          <a:solidFill>
            <a:srgbClr val="FFFFFF"/>
          </a:solidFill>
          <a:ln w="5953">
            <a:solidFill>
              <a:srgbClr val="28281E">
                <a:alpha val="10000"/>
              </a:srgbClr>
            </a:solidFill>
            <a:prstDash val="solid"/>
          </a:ln>
          <a:effectLst>
            <a:outerShdw sx="100000" sy="100000" kx="0" ky="0" algn="bl" rotWithShape="0" blurRad="476250" dist="190500" dir="5400000">
              <a:srgbClr val="283C5A">
                <a:alpha val="30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12898561" y="5677268"/>
            <a:ext cx="3781258" cy="21074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200" spc="192" kern="0" dirty="0">
                <a:solidFill>
                  <a:srgbClr val="8A94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 — OUTPUT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12898561" y="6059384"/>
            <a:ext cx="3781258" cy="45481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2550" b="1" dirty="0">
                <a:solidFill>
                  <a:srgbClr val="1324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Readiness brief</a:t>
            </a:r>
            <a:endParaRPr lang="en-US" sz="2550" dirty="0"/>
          </a:p>
        </p:txBody>
      </p:sp>
      <p:sp>
        <p:nvSpPr>
          <p:cNvPr id="18" name="Text 16"/>
          <p:cNvSpPr/>
          <p:nvPr/>
        </p:nvSpPr>
        <p:spPr>
          <a:xfrm>
            <a:off x="12898561" y="6609398"/>
            <a:ext cx="3781258" cy="69517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en-US" sz="1725" dirty="0">
                <a:solidFill>
                  <a:srgbClr val="5F6B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Score, top fixes, likely questions, one moment to practice.</a:t>
            </a:r>
            <a:endParaRPr lang="en-US" sz="1725" dirty="0"/>
          </a:p>
        </p:txBody>
      </p:sp>
      <p:sp>
        <p:nvSpPr>
          <p:cNvPr id="19" name="Text 17"/>
          <p:cNvSpPr/>
          <p:nvPr/>
        </p:nvSpPr>
        <p:spPr>
          <a:xfrm>
            <a:off x="1219181" y="9569090"/>
            <a:ext cx="950751" cy="22264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275" dirty="0">
                <a:solidFill>
                  <a:srgbClr val="2E3C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PROBEN.IO</a:t>
            </a:r>
            <a:endParaRPr lang="en-US" sz="1275" dirty="0"/>
          </a:p>
        </p:txBody>
      </p:sp>
      <p:sp>
        <p:nvSpPr>
          <p:cNvPr id="20" name="Text 18"/>
          <p:cNvSpPr/>
          <p:nvPr/>
        </p:nvSpPr>
        <p:spPr>
          <a:xfrm>
            <a:off x="16388581" y="9569090"/>
            <a:ext cx="756438" cy="22264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75" dirty="0">
                <a:solidFill>
                  <a:srgbClr val="8A94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 / 09</a:t>
            </a:r>
            <a:endParaRPr lang="en-US" sz="1275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6F7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219181" y="2303487"/>
            <a:ext cx="3527846" cy="2702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425" spc="314" kern="0" dirty="0">
                <a:solidFill>
                  <a:srgbClr val="5563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 READINESS REPORT</a:t>
            </a:r>
            <a:endParaRPr lang="en-US" sz="1425" dirty="0"/>
          </a:p>
        </p:txBody>
      </p:sp>
      <p:sp>
        <p:nvSpPr>
          <p:cNvPr id="3" name="Text 1"/>
          <p:cNvSpPr/>
          <p:nvPr/>
        </p:nvSpPr>
        <p:spPr>
          <a:xfrm>
            <a:off x="1219181" y="2860094"/>
            <a:ext cx="6278880" cy="223731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5550" b="1" spc="-139" kern="0" dirty="0">
                <a:solidFill>
                  <a:srgbClr val="1324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number. Then exactly what to change.</a:t>
            </a:r>
            <a:endParaRPr lang="en-US" sz="5550" dirty="0"/>
          </a:p>
        </p:txBody>
      </p:sp>
      <p:sp>
        <p:nvSpPr>
          <p:cNvPr id="4" name="Text 2"/>
          <p:cNvSpPr/>
          <p:nvPr/>
        </p:nvSpPr>
        <p:spPr>
          <a:xfrm>
            <a:off x="1219181" y="5366310"/>
            <a:ext cx="6278880" cy="12812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2175" dirty="0">
                <a:solidFill>
                  <a:srgbClr val="5F6B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Are you ready or not — followed by the specific gaps, the questions you'll be asked, and the single answer most likely to decide the meeting.</a:t>
            </a:r>
            <a:endParaRPr lang="en-US" sz="2175" dirty="0"/>
          </a:p>
        </p:txBody>
      </p:sp>
      <p:sp>
        <p:nvSpPr>
          <p:cNvPr id="5" name="Text 3"/>
          <p:cNvSpPr/>
          <p:nvPr/>
        </p:nvSpPr>
        <p:spPr>
          <a:xfrm>
            <a:off x="1219181" y="7090516"/>
            <a:ext cx="1316031" cy="73461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4200" b="1" dirty="0">
                <a:solidFill>
                  <a:srgbClr val="B579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6.2</a:t>
            </a:r>
            <a:pPr algn="l" indent="0" marL="0">
              <a:buNone/>
            </a:pPr>
            <a:r>
              <a:rPr lang="en-US" sz="2250" b="1" dirty="0">
                <a:solidFill>
                  <a:srgbClr val="5F6B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/10</a:t>
            </a:r>
            <a:endParaRPr lang="en-US" sz="4200" dirty="0"/>
          </a:p>
        </p:txBody>
      </p:sp>
      <p:sp>
        <p:nvSpPr>
          <p:cNvPr id="6" name="Text 4"/>
          <p:cNvSpPr/>
          <p:nvPr/>
        </p:nvSpPr>
        <p:spPr>
          <a:xfrm>
            <a:off x="1219181" y="7844144"/>
            <a:ext cx="1316031" cy="19883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spc="180" kern="0" dirty="0">
                <a:solidFill>
                  <a:srgbClr val="8A94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READINESS</a:t>
            </a:r>
            <a:endParaRPr lang="en-US" sz="1125" dirty="0"/>
          </a:p>
        </p:txBody>
      </p:sp>
      <p:sp>
        <p:nvSpPr>
          <p:cNvPr id="7" name="Text 5"/>
          <p:cNvSpPr/>
          <p:nvPr/>
        </p:nvSpPr>
        <p:spPr>
          <a:xfrm>
            <a:off x="2858988" y="7090516"/>
            <a:ext cx="1379469" cy="73461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4200" b="1" dirty="0">
                <a:solidFill>
                  <a:srgbClr val="C057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4200" dirty="0"/>
          </a:p>
        </p:txBody>
      </p:sp>
      <p:sp>
        <p:nvSpPr>
          <p:cNvPr id="8" name="Text 6"/>
          <p:cNvSpPr/>
          <p:nvPr/>
        </p:nvSpPr>
        <p:spPr>
          <a:xfrm>
            <a:off x="2858988" y="7844144"/>
            <a:ext cx="1379469" cy="19883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spc="180" kern="0" dirty="0">
                <a:solidFill>
                  <a:srgbClr val="8A94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CONTEXT GAPS</a:t>
            </a:r>
            <a:endParaRPr lang="en-US" sz="1125" dirty="0"/>
          </a:p>
        </p:txBody>
      </p:sp>
      <p:sp>
        <p:nvSpPr>
          <p:cNvPr id="9" name="Text 7"/>
          <p:cNvSpPr/>
          <p:nvPr/>
        </p:nvSpPr>
        <p:spPr>
          <a:xfrm>
            <a:off x="4562233" y="7090516"/>
            <a:ext cx="727881" cy="73461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4200" b="1" dirty="0">
                <a:solidFill>
                  <a:srgbClr val="1324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4200" dirty="0"/>
          </a:p>
        </p:txBody>
      </p:sp>
      <p:sp>
        <p:nvSpPr>
          <p:cNvPr id="10" name="Text 8"/>
          <p:cNvSpPr/>
          <p:nvPr/>
        </p:nvSpPr>
        <p:spPr>
          <a:xfrm>
            <a:off x="4562233" y="7844144"/>
            <a:ext cx="727881" cy="19883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spc="180" kern="0" dirty="0">
                <a:solidFill>
                  <a:srgbClr val="8A94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CHECKS</a:t>
            </a:r>
            <a:endParaRPr lang="en-US" sz="1125" dirty="0"/>
          </a:p>
        </p:txBody>
      </p:sp>
      <p:sp>
        <p:nvSpPr>
          <p:cNvPr id="11" name="Shape 9"/>
          <p:cNvSpPr/>
          <p:nvPr/>
        </p:nvSpPr>
        <p:spPr>
          <a:xfrm>
            <a:off x="8172431" y="2676148"/>
            <a:ext cx="6477000" cy="4940536"/>
          </a:xfrm>
          <a:prstGeom prst="roundRect">
            <a:avLst>
              <a:gd name="adj" fmla="val 3470"/>
            </a:avLst>
          </a:prstGeom>
          <a:solidFill>
            <a:srgbClr val="FFFFFF"/>
          </a:solidFill>
          <a:ln w="5953">
            <a:solidFill>
              <a:srgbClr val="28281E">
                <a:alpha val="10000"/>
              </a:srgbClr>
            </a:solidFill>
            <a:prstDash val="solid"/>
          </a:ln>
          <a:effectLst>
            <a:outerShdw sx="100000" sy="100000" kx="0" ky="0" algn="bl" rotWithShape="0" blurRad="476250" dist="190500" dir="5400000">
              <a:srgbClr val="283C5A">
                <a:alpha val="3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8178385" y="2682101"/>
            <a:ext cx="6465094" cy="693911"/>
          </a:xfrm>
          <a:prstGeom prst="rect">
            <a:avLst/>
          </a:prstGeom>
          <a:solidFill>
            <a:srgbClr val="F3F6F1"/>
          </a:solidFill>
          <a:ln/>
        </p:spPr>
      </p:sp>
      <p:sp>
        <p:nvSpPr>
          <p:cNvPr id="13" name="Shape 11"/>
          <p:cNvSpPr/>
          <p:nvPr/>
        </p:nvSpPr>
        <p:spPr>
          <a:xfrm>
            <a:off x="8178385" y="3370059"/>
            <a:ext cx="6465094" cy="9525"/>
          </a:xfrm>
          <a:prstGeom prst="rect">
            <a:avLst/>
          </a:prstGeom>
          <a:solidFill>
            <a:srgbClr val="28281E">
              <a:alpha val="10000"/>
            </a:srgbClr>
          </a:solidFill>
          <a:ln/>
        </p:spPr>
      </p:sp>
      <p:sp>
        <p:nvSpPr>
          <p:cNvPr id="14" name="Shape 12"/>
          <p:cNvSpPr/>
          <p:nvPr/>
        </p:nvSpPr>
        <p:spPr>
          <a:xfrm>
            <a:off x="8464135" y="2959387"/>
            <a:ext cx="133294" cy="133294"/>
          </a:xfrm>
          <a:prstGeom prst="ellipse">
            <a:avLst/>
          </a:prstGeom>
          <a:solidFill>
            <a:srgbClr val="C0573A">
              <a:alpha val="50000"/>
            </a:srgbClr>
          </a:solidFill>
          <a:ln/>
        </p:spPr>
      </p:sp>
      <p:sp>
        <p:nvSpPr>
          <p:cNvPr id="15" name="Shape 13"/>
          <p:cNvSpPr/>
          <p:nvPr/>
        </p:nvSpPr>
        <p:spPr>
          <a:xfrm>
            <a:off x="8683098" y="2959387"/>
            <a:ext cx="133294" cy="133294"/>
          </a:xfrm>
          <a:prstGeom prst="ellipse">
            <a:avLst/>
          </a:prstGeom>
          <a:solidFill>
            <a:srgbClr val="B5792E">
              <a:alpha val="50000"/>
            </a:srgbClr>
          </a:solidFill>
          <a:ln/>
        </p:spPr>
      </p:sp>
      <p:sp>
        <p:nvSpPr>
          <p:cNvPr id="16" name="Shape 14"/>
          <p:cNvSpPr/>
          <p:nvPr/>
        </p:nvSpPr>
        <p:spPr>
          <a:xfrm>
            <a:off x="8902061" y="2959387"/>
            <a:ext cx="133294" cy="133294"/>
          </a:xfrm>
          <a:prstGeom prst="ellipse">
            <a:avLst/>
          </a:prstGeom>
          <a:solidFill>
            <a:srgbClr val="4F8A2F">
              <a:alpha val="50000"/>
            </a:srgbClr>
          </a:solidFill>
          <a:ln/>
        </p:spPr>
      </p:sp>
      <p:sp>
        <p:nvSpPr>
          <p:cNvPr id="17" name="Text 15"/>
          <p:cNvSpPr/>
          <p:nvPr/>
        </p:nvSpPr>
        <p:spPr>
          <a:xfrm>
            <a:off x="9593926" y="2939760"/>
            <a:ext cx="3221548" cy="2107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spc="192" kern="0" dirty="0">
                <a:solidFill>
                  <a:srgbClr val="8A94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PROBEN.IO / READINESS-BRIEF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13280213" y="2891577"/>
            <a:ext cx="1077516" cy="269007"/>
          </a:xfrm>
          <a:prstGeom prst="roundRect">
            <a:avLst>
              <a:gd name="adj" fmla="val 50000"/>
            </a:avLst>
          </a:prstGeom>
          <a:solidFill>
            <a:srgbClr val="96B946">
              <a:alpha val="18000"/>
            </a:srgbClr>
          </a:solidFill>
          <a:ln/>
        </p:spPr>
      </p:sp>
      <p:sp>
        <p:nvSpPr>
          <p:cNvPr id="19" name="Text 17"/>
          <p:cNvSpPr/>
          <p:nvPr/>
        </p:nvSpPr>
        <p:spPr>
          <a:xfrm>
            <a:off x="13413563" y="2948727"/>
            <a:ext cx="887016" cy="19280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spc="168" kern="0" dirty="0">
                <a:solidFill>
                  <a:srgbClr val="5B7F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ANALYZED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8178385" y="4785600"/>
            <a:ext cx="6465094" cy="9525"/>
          </a:xfrm>
          <a:prstGeom prst="rect">
            <a:avLst/>
          </a:prstGeom>
          <a:solidFill>
            <a:srgbClr val="28281E">
              <a:alpha val="10000"/>
            </a:srgbClr>
          </a:solidFill>
          <a:ln/>
        </p:spPr>
      </p:sp>
      <p:sp>
        <p:nvSpPr>
          <p:cNvPr id="21" name="Text 19"/>
          <p:cNvSpPr/>
          <p:nvPr/>
        </p:nvSpPr>
        <p:spPr>
          <a:xfrm>
            <a:off x="8521247" y="3699806"/>
            <a:ext cx="1112602" cy="800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6000" b="1" dirty="0">
                <a:solidFill>
                  <a:srgbClr val="B579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6.2</a:t>
            </a:r>
            <a:endParaRPr lang="en-US" sz="6000" dirty="0"/>
          </a:p>
        </p:txBody>
      </p:sp>
      <p:sp>
        <p:nvSpPr>
          <p:cNvPr id="22" name="Text 20"/>
          <p:cNvSpPr/>
          <p:nvPr/>
        </p:nvSpPr>
        <p:spPr>
          <a:xfrm>
            <a:off x="9614762" y="4134384"/>
            <a:ext cx="522126" cy="31789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5F6B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/10</a:t>
            </a:r>
            <a:endParaRPr lang="en-US" sz="1950" dirty="0"/>
          </a:p>
        </p:txBody>
      </p:sp>
      <p:sp>
        <p:nvSpPr>
          <p:cNvPr id="23" name="Text 21"/>
          <p:cNvSpPr/>
          <p:nvPr/>
        </p:nvSpPr>
        <p:spPr>
          <a:xfrm>
            <a:off x="10308301" y="3749198"/>
            <a:ext cx="2059893" cy="38933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1324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Partly ready</a:t>
            </a:r>
            <a:endParaRPr lang="en-US" sz="2100" dirty="0"/>
          </a:p>
        </p:txBody>
      </p:sp>
      <p:sp>
        <p:nvSpPr>
          <p:cNvPr id="24" name="Text 22"/>
          <p:cNvSpPr/>
          <p:nvPr/>
        </p:nvSpPr>
        <p:spPr>
          <a:xfrm>
            <a:off x="10308301" y="4138477"/>
            <a:ext cx="2059893" cy="31194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C057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context gaps found</a:t>
            </a:r>
            <a:endParaRPr lang="en-US" sz="1650" dirty="0"/>
          </a:p>
        </p:txBody>
      </p:sp>
      <p:sp>
        <p:nvSpPr>
          <p:cNvPr id="25" name="Text 23"/>
          <p:cNvSpPr/>
          <p:nvPr/>
        </p:nvSpPr>
        <p:spPr>
          <a:xfrm>
            <a:off x="8521247" y="5039166"/>
            <a:ext cx="5952749" cy="19288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spc="168" kern="0" dirty="0">
                <a:solidFill>
                  <a:srgbClr val="8A94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 CHECKS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8521247" y="5473744"/>
            <a:ext cx="95250" cy="95250"/>
          </a:xfrm>
          <a:prstGeom prst="ellipse">
            <a:avLst/>
          </a:prstGeom>
          <a:solidFill>
            <a:srgbClr val="4F8A2F"/>
          </a:solidFill>
          <a:ln/>
        </p:spPr>
      </p:sp>
      <p:sp>
        <p:nvSpPr>
          <p:cNvPr id="27" name="Text 25"/>
          <p:cNvSpPr/>
          <p:nvPr/>
        </p:nvSpPr>
        <p:spPr>
          <a:xfrm>
            <a:off x="8787929" y="5384448"/>
            <a:ext cx="1981200" cy="31194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2E3C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Goal clarity</a:t>
            </a:r>
            <a:endParaRPr lang="en-US" sz="1650" dirty="0"/>
          </a:p>
        </p:txBody>
      </p:sp>
      <p:sp>
        <p:nvSpPr>
          <p:cNvPr id="28" name="Shape 26"/>
          <p:cNvSpPr/>
          <p:nvPr/>
        </p:nvSpPr>
        <p:spPr>
          <a:xfrm>
            <a:off x="10864360" y="5478488"/>
            <a:ext cx="2845780" cy="85669"/>
          </a:xfrm>
          <a:prstGeom prst="roundRect">
            <a:avLst>
              <a:gd name="adj" fmla="val 50000"/>
            </a:avLst>
          </a:prstGeom>
          <a:solidFill>
            <a:srgbClr val="E4E9DE"/>
          </a:solidFill>
          <a:ln/>
        </p:spPr>
      </p:sp>
      <p:sp>
        <p:nvSpPr>
          <p:cNvPr id="29" name="Shape 27"/>
          <p:cNvSpPr/>
          <p:nvPr/>
        </p:nvSpPr>
        <p:spPr>
          <a:xfrm>
            <a:off x="10864360" y="5478488"/>
            <a:ext cx="2276605" cy="85669"/>
          </a:xfrm>
          <a:prstGeom prst="roundRect">
            <a:avLst>
              <a:gd name="adj" fmla="val 50000"/>
            </a:avLst>
          </a:prstGeom>
          <a:solidFill>
            <a:srgbClr val="4F8A2F"/>
          </a:solidFill>
          <a:ln/>
        </p:spPr>
      </p:sp>
      <p:sp>
        <p:nvSpPr>
          <p:cNvPr id="30" name="Text 28"/>
          <p:cNvSpPr/>
          <p:nvPr/>
        </p:nvSpPr>
        <p:spPr>
          <a:xfrm>
            <a:off x="13805371" y="5393377"/>
            <a:ext cx="495244" cy="29408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1575" b="1" dirty="0">
                <a:solidFill>
                  <a:srgbClr val="4F8A2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8.0</a:t>
            </a:r>
            <a:endParaRPr lang="en-US" sz="1575" dirty="0"/>
          </a:p>
        </p:txBody>
      </p:sp>
      <p:sp>
        <p:nvSpPr>
          <p:cNvPr id="31" name="Shape 29"/>
          <p:cNvSpPr/>
          <p:nvPr/>
        </p:nvSpPr>
        <p:spPr>
          <a:xfrm>
            <a:off x="8521247" y="5899951"/>
            <a:ext cx="95250" cy="95250"/>
          </a:xfrm>
          <a:prstGeom prst="ellipse">
            <a:avLst/>
          </a:prstGeom>
          <a:solidFill>
            <a:srgbClr val="C0573A"/>
          </a:solidFill>
          <a:ln/>
        </p:spPr>
      </p:sp>
      <p:sp>
        <p:nvSpPr>
          <p:cNvPr id="32" name="Text 30"/>
          <p:cNvSpPr/>
          <p:nvPr/>
        </p:nvSpPr>
        <p:spPr>
          <a:xfrm>
            <a:off x="8787929" y="5810654"/>
            <a:ext cx="1981200" cy="31194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2E3C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Strategic context</a:t>
            </a:r>
            <a:endParaRPr lang="en-US" sz="1650" dirty="0"/>
          </a:p>
        </p:txBody>
      </p:sp>
      <p:sp>
        <p:nvSpPr>
          <p:cNvPr id="33" name="Shape 31"/>
          <p:cNvSpPr/>
          <p:nvPr/>
        </p:nvSpPr>
        <p:spPr>
          <a:xfrm>
            <a:off x="10864360" y="5904695"/>
            <a:ext cx="2845780" cy="85669"/>
          </a:xfrm>
          <a:prstGeom prst="roundRect">
            <a:avLst>
              <a:gd name="adj" fmla="val 50000"/>
            </a:avLst>
          </a:prstGeom>
          <a:solidFill>
            <a:srgbClr val="E4E9DE"/>
          </a:solidFill>
          <a:ln/>
        </p:spPr>
      </p:sp>
      <p:sp>
        <p:nvSpPr>
          <p:cNvPr id="34" name="Shape 32"/>
          <p:cNvSpPr/>
          <p:nvPr/>
        </p:nvSpPr>
        <p:spPr>
          <a:xfrm>
            <a:off x="10864360" y="5904695"/>
            <a:ext cx="1650504" cy="85669"/>
          </a:xfrm>
          <a:prstGeom prst="roundRect">
            <a:avLst>
              <a:gd name="adj" fmla="val 50000"/>
            </a:avLst>
          </a:prstGeom>
          <a:solidFill>
            <a:srgbClr val="C0573A"/>
          </a:solidFill>
          <a:ln/>
        </p:spPr>
      </p:sp>
      <p:sp>
        <p:nvSpPr>
          <p:cNvPr id="35" name="Text 33"/>
          <p:cNvSpPr/>
          <p:nvPr/>
        </p:nvSpPr>
        <p:spPr>
          <a:xfrm>
            <a:off x="13805371" y="5819584"/>
            <a:ext cx="495244" cy="29408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1575" b="1" dirty="0">
                <a:solidFill>
                  <a:srgbClr val="C057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5.8</a:t>
            </a:r>
            <a:endParaRPr lang="en-US" sz="1575" dirty="0"/>
          </a:p>
        </p:txBody>
      </p:sp>
      <p:sp>
        <p:nvSpPr>
          <p:cNvPr id="36" name="Shape 34"/>
          <p:cNvSpPr/>
          <p:nvPr/>
        </p:nvSpPr>
        <p:spPr>
          <a:xfrm>
            <a:off x="8521247" y="6326157"/>
            <a:ext cx="95250" cy="95250"/>
          </a:xfrm>
          <a:prstGeom prst="ellipse">
            <a:avLst/>
          </a:prstGeom>
          <a:solidFill>
            <a:srgbClr val="B5792E"/>
          </a:solidFill>
          <a:ln/>
        </p:spPr>
      </p:sp>
      <p:sp>
        <p:nvSpPr>
          <p:cNvPr id="37" name="Text 35"/>
          <p:cNvSpPr/>
          <p:nvPr/>
        </p:nvSpPr>
        <p:spPr>
          <a:xfrm>
            <a:off x="8787929" y="6236861"/>
            <a:ext cx="1981200" cy="31194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2E3C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Evidence strength</a:t>
            </a:r>
            <a:endParaRPr lang="en-US" sz="1650" dirty="0"/>
          </a:p>
        </p:txBody>
      </p:sp>
      <p:sp>
        <p:nvSpPr>
          <p:cNvPr id="38" name="Shape 36"/>
          <p:cNvSpPr/>
          <p:nvPr/>
        </p:nvSpPr>
        <p:spPr>
          <a:xfrm>
            <a:off x="10864360" y="6330901"/>
            <a:ext cx="2845780" cy="85669"/>
          </a:xfrm>
          <a:prstGeom prst="roundRect">
            <a:avLst>
              <a:gd name="adj" fmla="val 50000"/>
            </a:avLst>
          </a:prstGeom>
          <a:solidFill>
            <a:srgbClr val="E4E9DE"/>
          </a:solidFill>
          <a:ln/>
        </p:spPr>
      </p:sp>
      <p:sp>
        <p:nvSpPr>
          <p:cNvPr id="39" name="Shape 37"/>
          <p:cNvSpPr/>
          <p:nvPr/>
        </p:nvSpPr>
        <p:spPr>
          <a:xfrm>
            <a:off x="10864360" y="6330901"/>
            <a:ext cx="1707431" cy="85669"/>
          </a:xfrm>
          <a:prstGeom prst="roundRect">
            <a:avLst>
              <a:gd name="adj" fmla="val 50000"/>
            </a:avLst>
          </a:prstGeom>
          <a:solidFill>
            <a:srgbClr val="B5792E"/>
          </a:solidFill>
          <a:ln/>
        </p:spPr>
      </p:sp>
      <p:sp>
        <p:nvSpPr>
          <p:cNvPr id="40" name="Text 38"/>
          <p:cNvSpPr/>
          <p:nvPr/>
        </p:nvSpPr>
        <p:spPr>
          <a:xfrm>
            <a:off x="13805371" y="6245790"/>
            <a:ext cx="495244" cy="29408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1575" b="1" dirty="0">
                <a:solidFill>
                  <a:srgbClr val="B579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6.0</a:t>
            </a:r>
            <a:endParaRPr lang="en-US" sz="1575" dirty="0"/>
          </a:p>
        </p:txBody>
      </p:sp>
      <p:sp>
        <p:nvSpPr>
          <p:cNvPr id="41" name="Shape 39"/>
          <p:cNvSpPr/>
          <p:nvPr/>
        </p:nvSpPr>
        <p:spPr>
          <a:xfrm>
            <a:off x="8521247" y="6752364"/>
            <a:ext cx="95250" cy="95250"/>
          </a:xfrm>
          <a:prstGeom prst="ellipse">
            <a:avLst/>
          </a:prstGeom>
          <a:solidFill>
            <a:srgbClr val="C0573A"/>
          </a:solidFill>
          <a:ln/>
        </p:spPr>
      </p:sp>
      <p:sp>
        <p:nvSpPr>
          <p:cNvPr id="42" name="Text 40"/>
          <p:cNvSpPr/>
          <p:nvPr/>
        </p:nvSpPr>
        <p:spPr>
          <a:xfrm>
            <a:off x="8787929" y="6663067"/>
            <a:ext cx="1981200" cy="31194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2E3C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Stakeholder risk</a:t>
            </a:r>
            <a:endParaRPr lang="en-US" sz="1650" dirty="0"/>
          </a:p>
        </p:txBody>
      </p:sp>
      <p:sp>
        <p:nvSpPr>
          <p:cNvPr id="43" name="Shape 41"/>
          <p:cNvSpPr/>
          <p:nvPr/>
        </p:nvSpPr>
        <p:spPr>
          <a:xfrm>
            <a:off x="10864360" y="6757108"/>
            <a:ext cx="2845780" cy="85669"/>
          </a:xfrm>
          <a:prstGeom prst="roundRect">
            <a:avLst>
              <a:gd name="adj" fmla="val 50000"/>
            </a:avLst>
          </a:prstGeom>
          <a:solidFill>
            <a:srgbClr val="E4E9DE"/>
          </a:solidFill>
          <a:ln/>
        </p:spPr>
      </p:sp>
      <p:sp>
        <p:nvSpPr>
          <p:cNvPr id="44" name="Shape 42"/>
          <p:cNvSpPr/>
          <p:nvPr/>
        </p:nvSpPr>
        <p:spPr>
          <a:xfrm>
            <a:off x="10864360" y="6757108"/>
            <a:ext cx="1565114" cy="85669"/>
          </a:xfrm>
          <a:prstGeom prst="roundRect">
            <a:avLst>
              <a:gd name="adj" fmla="val 50000"/>
            </a:avLst>
          </a:prstGeom>
          <a:solidFill>
            <a:srgbClr val="C0573A"/>
          </a:solidFill>
          <a:ln/>
        </p:spPr>
      </p:sp>
      <p:sp>
        <p:nvSpPr>
          <p:cNvPr id="45" name="Text 43"/>
          <p:cNvSpPr/>
          <p:nvPr/>
        </p:nvSpPr>
        <p:spPr>
          <a:xfrm>
            <a:off x="13805371" y="6671997"/>
            <a:ext cx="495244" cy="29408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1575" b="1" dirty="0">
                <a:solidFill>
                  <a:srgbClr val="C057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5.5</a:t>
            </a:r>
            <a:endParaRPr lang="en-US" sz="1575" dirty="0"/>
          </a:p>
        </p:txBody>
      </p:sp>
      <p:sp>
        <p:nvSpPr>
          <p:cNvPr id="46" name="Shape 44"/>
          <p:cNvSpPr/>
          <p:nvPr/>
        </p:nvSpPr>
        <p:spPr>
          <a:xfrm>
            <a:off x="8521247" y="7178571"/>
            <a:ext cx="95250" cy="95250"/>
          </a:xfrm>
          <a:prstGeom prst="ellipse">
            <a:avLst/>
          </a:prstGeom>
          <a:solidFill>
            <a:srgbClr val="C0573A"/>
          </a:solidFill>
          <a:ln/>
        </p:spPr>
      </p:sp>
      <p:sp>
        <p:nvSpPr>
          <p:cNvPr id="47" name="Text 45"/>
          <p:cNvSpPr/>
          <p:nvPr/>
        </p:nvSpPr>
        <p:spPr>
          <a:xfrm>
            <a:off x="8787929" y="7089274"/>
            <a:ext cx="1981200" cy="31194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2E3C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Decision ask</a:t>
            </a:r>
            <a:endParaRPr lang="en-US" sz="1650" dirty="0"/>
          </a:p>
        </p:txBody>
      </p:sp>
      <p:sp>
        <p:nvSpPr>
          <p:cNvPr id="48" name="Shape 46"/>
          <p:cNvSpPr/>
          <p:nvPr/>
        </p:nvSpPr>
        <p:spPr>
          <a:xfrm>
            <a:off x="10864360" y="7183314"/>
            <a:ext cx="2845780" cy="85669"/>
          </a:xfrm>
          <a:prstGeom prst="roundRect">
            <a:avLst>
              <a:gd name="adj" fmla="val 50000"/>
            </a:avLst>
          </a:prstGeom>
          <a:solidFill>
            <a:srgbClr val="E4E9DE"/>
          </a:solidFill>
          <a:ln/>
        </p:spPr>
      </p:sp>
      <p:sp>
        <p:nvSpPr>
          <p:cNvPr id="49" name="Shape 47"/>
          <p:cNvSpPr/>
          <p:nvPr/>
        </p:nvSpPr>
        <p:spPr>
          <a:xfrm>
            <a:off x="10864360" y="7183314"/>
            <a:ext cx="1479724" cy="85669"/>
          </a:xfrm>
          <a:prstGeom prst="roundRect">
            <a:avLst>
              <a:gd name="adj" fmla="val 50000"/>
            </a:avLst>
          </a:prstGeom>
          <a:solidFill>
            <a:srgbClr val="C0573A"/>
          </a:solidFill>
          <a:ln/>
        </p:spPr>
      </p:sp>
      <p:sp>
        <p:nvSpPr>
          <p:cNvPr id="50" name="Text 48"/>
          <p:cNvSpPr/>
          <p:nvPr/>
        </p:nvSpPr>
        <p:spPr>
          <a:xfrm>
            <a:off x="13805371" y="7098203"/>
            <a:ext cx="495244" cy="29408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1575" b="1" dirty="0">
                <a:solidFill>
                  <a:srgbClr val="C057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5.2</a:t>
            </a:r>
            <a:endParaRPr lang="en-US" sz="1575" dirty="0"/>
          </a:p>
        </p:txBody>
      </p:sp>
      <p:sp>
        <p:nvSpPr>
          <p:cNvPr id="51" name="Text 49"/>
          <p:cNvSpPr/>
          <p:nvPr/>
        </p:nvSpPr>
        <p:spPr>
          <a:xfrm>
            <a:off x="1219181" y="9569090"/>
            <a:ext cx="950751" cy="22264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275" dirty="0">
                <a:solidFill>
                  <a:srgbClr val="2E3C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PROBEN.IO</a:t>
            </a:r>
            <a:endParaRPr lang="en-US" sz="1275" dirty="0"/>
          </a:p>
        </p:txBody>
      </p:sp>
      <p:sp>
        <p:nvSpPr>
          <p:cNvPr id="52" name="Text 50"/>
          <p:cNvSpPr/>
          <p:nvPr/>
        </p:nvSpPr>
        <p:spPr>
          <a:xfrm>
            <a:off x="16388581" y="9569090"/>
            <a:ext cx="756438" cy="22264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75" dirty="0">
                <a:solidFill>
                  <a:srgbClr val="8A94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04 / 09</a:t>
            </a:r>
            <a:endParaRPr lang="en-US" sz="1275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6F7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219181" y="1047750"/>
            <a:ext cx="16325126" cy="2702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425" spc="314" kern="0" dirty="0">
                <a:solidFill>
                  <a:srgbClr val="5563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WHAT PROBEN CHECKS</a:t>
            </a:r>
            <a:endParaRPr lang="en-US" sz="1425" dirty="0"/>
          </a:p>
        </p:txBody>
      </p:sp>
      <p:sp>
        <p:nvSpPr>
          <p:cNvPr id="3" name="Text 1"/>
          <p:cNvSpPr/>
          <p:nvPr/>
        </p:nvSpPr>
        <p:spPr>
          <a:xfrm>
            <a:off x="1219181" y="1566311"/>
            <a:ext cx="16325126" cy="7711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5550" b="1" spc="-139" kern="0" dirty="0">
                <a:solidFill>
                  <a:srgbClr val="1324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Five signals. Each maps to a concrete question.</a:t>
            </a:r>
            <a:endParaRPr lang="en-US" sz="5550" dirty="0"/>
          </a:p>
        </p:txBody>
      </p:sp>
      <p:sp>
        <p:nvSpPr>
          <p:cNvPr id="4" name="Shape 2"/>
          <p:cNvSpPr/>
          <p:nvPr/>
        </p:nvSpPr>
        <p:spPr>
          <a:xfrm>
            <a:off x="1219181" y="2873154"/>
            <a:ext cx="15849637" cy="5588497"/>
          </a:xfrm>
          <a:prstGeom prst="roundRect">
            <a:avLst>
              <a:gd name="adj" fmla="val 3068"/>
            </a:avLst>
          </a:prstGeom>
          <a:solidFill>
            <a:srgbClr val="FFFFFF"/>
          </a:solidFill>
          <a:ln w="5953">
            <a:solidFill>
              <a:srgbClr val="28281E">
                <a:alpha val="10000"/>
              </a:srgbClr>
            </a:solidFill>
            <a:prstDash val="solid"/>
          </a:ln>
          <a:effectLst>
            <a:outerShdw sx="100000" sy="100000" kx="0" ky="0" algn="bl" rotWithShape="0" blurRad="476250" dist="190500" dir="5400000">
              <a:srgbClr val="283C5A">
                <a:alpha val="3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225135" y="2879107"/>
            <a:ext cx="15837731" cy="623776"/>
          </a:xfrm>
          <a:prstGeom prst="rect">
            <a:avLst/>
          </a:prstGeom>
          <a:solidFill>
            <a:srgbClr val="F3F6F1"/>
          </a:solidFill>
          <a:ln/>
        </p:spPr>
      </p:sp>
      <p:sp>
        <p:nvSpPr>
          <p:cNvPr id="6" name="Shape 4"/>
          <p:cNvSpPr/>
          <p:nvPr/>
        </p:nvSpPr>
        <p:spPr>
          <a:xfrm>
            <a:off x="1225135" y="3496930"/>
            <a:ext cx="15837731" cy="9525"/>
          </a:xfrm>
          <a:prstGeom prst="rect">
            <a:avLst/>
          </a:prstGeom>
          <a:solidFill>
            <a:srgbClr val="28281E">
              <a:alpha val="10000"/>
            </a:srgbClr>
          </a:solidFill>
          <a:ln/>
        </p:spPr>
      </p:sp>
      <p:sp>
        <p:nvSpPr>
          <p:cNvPr id="7" name="Text 5"/>
          <p:cNvSpPr/>
          <p:nvPr/>
        </p:nvSpPr>
        <p:spPr>
          <a:xfrm>
            <a:off x="1644179" y="3107652"/>
            <a:ext cx="3139440" cy="19883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spc="180" kern="0" dirty="0">
                <a:solidFill>
                  <a:srgbClr val="8A94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SIGNAL</a:t>
            </a:r>
            <a:endParaRPr lang="en-US" sz="1125" dirty="0"/>
          </a:p>
        </p:txBody>
      </p:sp>
      <p:sp>
        <p:nvSpPr>
          <p:cNvPr id="8" name="Text 6"/>
          <p:cNvSpPr/>
          <p:nvPr/>
        </p:nvSpPr>
        <p:spPr>
          <a:xfrm>
            <a:off x="4939792" y="3107652"/>
            <a:ext cx="8503736" cy="19883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spc="180" kern="0" dirty="0">
                <a:solidFill>
                  <a:srgbClr val="8A94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WHAT IT ASKS</a:t>
            </a:r>
            <a:endParaRPr lang="en-US" sz="1125" dirty="0"/>
          </a:p>
        </p:txBody>
      </p:sp>
      <p:sp>
        <p:nvSpPr>
          <p:cNvPr id="9" name="Text 7"/>
          <p:cNvSpPr/>
          <p:nvPr/>
        </p:nvSpPr>
        <p:spPr>
          <a:xfrm>
            <a:off x="13443458" y="3107652"/>
            <a:ext cx="1981200" cy="19883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spc="180" kern="0" dirty="0">
                <a:solidFill>
                  <a:srgbClr val="8A94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STATUS</a:t>
            </a:r>
            <a:endParaRPr lang="en-US" sz="1125" dirty="0"/>
          </a:p>
        </p:txBody>
      </p:sp>
      <p:sp>
        <p:nvSpPr>
          <p:cNvPr id="10" name="Text 8"/>
          <p:cNvSpPr/>
          <p:nvPr/>
        </p:nvSpPr>
        <p:spPr>
          <a:xfrm>
            <a:off x="15519871" y="3107652"/>
            <a:ext cx="1123950" cy="19883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1125" spc="180" kern="0" dirty="0">
                <a:solidFill>
                  <a:srgbClr val="8A94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SCORE</a:t>
            </a:r>
            <a:endParaRPr lang="en-US" sz="1125" dirty="0"/>
          </a:p>
        </p:txBody>
      </p:sp>
      <p:sp>
        <p:nvSpPr>
          <p:cNvPr id="11" name="Shape 9"/>
          <p:cNvSpPr/>
          <p:nvPr/>
        </p:nvSpPr>
        <p:spPr>
          <a:xfrm>
            <a:off x="1225135" y="4488684"/>
            <a:ext cx="15837731" cy="9525"/>
          </a:xfrm>
          <a:prstGeom prst="rect">
            <a:avLst/>
          </a:prstGeom>
          <a:solidFill>
            <a:srgbClr val="28281E">
              <a:alpha val="10000"/>
            </a:srgbClr>
          </a:solidFill>
          <a:ln/>
        </p:spPr>
      </p:sp>
      <p:sp>
        <p:nvSpPr>
          <p:cNvPr id="12" name="Text 10"/>
          <p:cNvSpPr/>
          <p:nvPr/>
        </p:nvSpPr>
        <p:spPr>
          <a:xfrm>
            <a:off x="1644179" y="3829096"/>
            <a:ext cx="3139440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025" b="1" dirty="0">
                <a:solidFill>
                  <a:srgbClr val="1324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Goal clarity</a:t>
            </a:r>
            <a:endParaRPr lang="en-US" sz="2025" dirty="0"/>
          </a:p>
        </p:txBody>
      </p:sp>
      <p:sp>
        <p:nvSpPr>
          <p:cNvPr id="13" name="Text 11"/>
          <p:cNvSpPr/>
          <p:nvPr/>
        </p:nvSpPr>
        <p:spPr>
          <a:xfrm>
            <a:off x="4939792" y="3847885"/>
            <a:ext cx="8503736" cy="33380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725" dirty="0">
                <a:solidFill>
                  <a:srgbClr val="5F6B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 you know what decision you need?</a:t>
            </a:r>
            <a:endParaRPr lang="en-US" sz="1725" dirty="0"/>
          </a:p>
        </p:txBody>
      </p:sp>
      <p:sp>
        <p:nvSpPr>
          <p:cNvPr id="14" name="Shape 12"/>
          <p:cNvSpPr/>
          <p:nvPr/>
        </p:nvSpPr>
        <p:spPr>
          <a:xfrm>
            <a:off x="13614890" y="3952902"/>
            <a:ext cx="85669" cy="85669"/>
          </a:xfrm>
          <a:prstGeom prst="ellipse">
            <a:avLst/>
          </a:prstGeom>
          <a:solidFill>
            <a:srgbClr val="4F8A2F"/>
          </a:solidFill>
          <a:ln/>
        </p:spPr>
      </p:sp>
      <p:sp>
        <p:nvSpPr>
          <p:cNvPr id="15" name="Text 13"/>
          <p:cNvSpPr/>
          <p:nvPr/>
        </p:nvSpPr>
        <p:spPr>
          <a:xfrm>
            <a:off x="13805297" y="3864815"/>
            <a:ext cx="666210" cy="3000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575" b="1" dirty="0">
                <a:solidFill>
                  <a:srgbClr val="4F8A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Strong</a:t>
            </a:r>
            <a:endParaRPr lang="en-US" sz="1575" dirty="0"/>
          </a:p>
        </p:txBody>
      </p:sp>
      <p:sp>
        <p:nvSpPr>
          <p:cNvPr id="16" name="Text 14"/>
          <p:cNvSpPr/>
          <p:nvPr/>
        </p:nvSpPr>
        <p:spPr>
          <a:xfrm>
            <a:off x="15519871" y="3841002"/>
            <a:ext cx="1123950" cy="3476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1875" b="1" dirty="0">
                <a:solidFill>
                  <a:srgbClr val="4F8A2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8.0</a:t>
            </a:r>
            <a:endParaRPr lang="en-US" sz="1875" dirty="0"/>
          </a:p>
        </p:txBody>
      </p:sp>
      <p:sp>
        <p:nvSpPr>
          <p:cNvPr id="17" name="Shape 15"/>
          <p:cNvSpPr/>
          <p:nvPr/>
        </p:nvSpPr>
        <p:spPr>
          <a:xfrm>
            <a:off x="1225135" y="5480437"/>
            <a:ext cx="15837731" cy="9525"/>
          </a:xfrm>
          <a:prstGeom prst="rect">
            <a:avLst/>
          </a:prstGeom>
          <a:solidFill>
            <a:srgbClr val="28281E">
              <a:alpha val="10000"/>
            </a:srgbClr>
          </a:solidFill>
          <a:ln/>
        </p:spPr>
      </p:sp>
      <p:sp>
        <p:nvSpPr>
          <p:cNvPr id="18" name="Text 16"/>
          <p:cNvSpPr/>
          <p:nvPr/>
        </p:nvSpPr>
        <p:spPr>
          <a:xfrm>
            <a:off x="1644179" y="4820849"/>
            <a:ext cx="3139440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025" b="1" dirty="0">
                <a:solidFill>
                  <a:srgbClr val="1324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Strategic context</a:t>
            </a:r>
            <a:endParaRPr lang="en-US" sz="2025" dirty="0"/>
          </a:p>
        </p:txBody>
      </p:sp>
      <p:sp>
        <p:nvSpPr>
          <p:cNvPr id="19" name="Text 17"/>
          <p:cNvSpPr/>
          <p:nvPr/>
        </p:nvSpPr>
        <p:spPr>
          <a:xfrm>
            <a:off x="4939792" y="4839639"/>
            <a:ext cx="8503736" cy="33380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725" dirty="0">
                <a:solidFill>
                  <a:srgbClr val="5F6B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Does it connect to goals, OKRs, revenue, cost, or risk?</a:t>
            </a:r>
            <a:endParaRPr lang="en-US" sz="1725" dirty="0"/>
          </a:p>
        </p:txBody>
      </p:sp>
      <p:sp>
        <p:nvSpPr>
          <p:cNvPr id="20" name="Shape 18"/>
          <p:cNvSpPr/>
          <p:nvPr/>
        </p:nvSpPr>
        <p:spPr>
          <a:xfrm>
            <a:off x="13614890" y="4944656"/>
            <a:ext cx="85669" cy="85669"/>
          </a:xfrm>
          <a:prstGeom prst="ellipse">
            <a:avLst/>
          </a:prstGeom>
          <a:solidFill>
            <a:srgbClr val="C0573A"/>
          </a:solidFill>
          <a:ln/>
        </p:spPr>
      </p:sp>
      <p:sp>
        <p:nvSpPr>
          <p:cNvPr id="21" name="Text 19"/>
          <p:cNvSpPr/>
          <p:nvPr/>
        </p:nvSpPr>
        <p:spPr>
          <a:xfrm>
            <a:off x="13805297" y="4856568"/>
            <a:ext cx="587053" cy="3000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575" b="1" dirty="0">
                <a:solidFill>
                  <a:srgbClr val="C057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Weak</a:t>
            </a:r>
            <a:endParaRPr lang="en-US" sz="1575" dirty="0"/>
          </a:p>
        </p:txBody>
      </p:sp>
      <p:sp>
        <p:nvSpPr>
          <p:cNvPr id="22" name="Text 20"/>
          <p:cNvSpPr/>
          <p:nvPr/>
        </p:nvSpPr>
        <p:spPr>
          <a:xfrm>
            <a:off x="15519871" y="4832756"/>
            <a:ext cx="1123950" cy="3476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1875" b="1" dirty="0">
                <a:solidFill>
                  <a:srgbClr val="C057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5.8</a:t>
            </a:r>
            <a:endParaRPr lang="en-US" sz="1875" dirty="0"/>
          </a:p>
        </p:txBody>
      </p:sp>
      <p:sp>
        <p:nvSpPr>
          <p:cNvPr id="23" name="Shape 21"/>
          <p:cNvSpPr/>
          <p:nvPr/>
        </p:nvSpPr>
        <p:spPr>
          <a:xfrm>
            <a:off x="1225135" y="6472191"/>
            <a:ext cx="15837731" cy="9525"/>
          </a:xfrm>
          <a:prstGeom prst="rect">
            <a:avLst/>
          </a:prstGeom>
          <a:solidFill>
            <a:srgbClr val="28281E">
              <a:alpha val="10000"/>
            </a:srgbClr>
          </a:solidFill>
          <a:ln/>
        </p:spPr>
      </p:sp>
      <p:sp>
        <p:nvSpPr>
          <p:cNvPr id="24" name="Text 22"/>
          <p:cNvSpPr/>
          <p:nvPr/>
        </p:nvSpPr>
        <p:spPr>
          <a:xfrm>
            <a:off x="1644179" y="5812603"/>
            <a:ext cx="3139440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025" b="1" dirty="0">
                <a:solidFill>
                  <a:srgbClr val="1324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Evidence strength</a:t>
            </a:r>
            <a:endParaRPr lang="en-US" sz="2025" dirty="0"/>
          </a:p>
        </p:txBody>
      </p:sp>
      <p:sp>
        <p:nvSpPr>
          <p:cNvPr id="25" name="Text 23"/>
          <p:cNvSpPr/>
          <p:nvPr/>
        </p:nvSpPr>
        <p:spPr>
          <a:xfrm>
            <a:off x="4939792" y="5831392"/>
            <a:ext cx="8503736" cy="33380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725" dirty="0">
                <a:solidFill>
                  <a:srgbClr val="5F6B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 you have numbers, examples, assumptions, or proof?</a:t>
            </a:r>
            <a:endParaRPr lang="en-US" sz="1725" dirty="0"/>
          </a:p>
        </p:txBody>
      </p:sp>
      <p:sp>
        <p:nvSpPr>
          <p:cNvPr id="26" name="Shape 24"/>
          <p:cNvSpPr/>
          <p:nvPr/>
        </p:nvSpPr>
        <p:spPr>
          <a:xfrm>
            <a:off x="13614890" y="5936409"/>
            <a:ext cx="85669" cy="85669"/>
          </a:xfrm>
          <a:prstGeom prst="ellipse">
            <a:avLst/>
          </a:prstGeom>
          <a:solidFill>
            <a:srgbClr val="B5792E"/>
          </a:solidFill>
          <a:ln/>
        </p:spPr>
      </p:sp>
      <p:sp>
        <p:nvSpPr>
          <p:cNvPr id="27" name="Text 25"/>
          <p:cNvSpPr/>
          <p:nvPr/>
        </p:nvSpPr>
        <p:spPr>
          <a:xfrm>
            <a:off x="13805297" y="5848322"/>
            <a:ext cx="797458" cy="3000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575" b="1" dirty="0">
                <a:solidFill>
                  <a:srgbClr val="B579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Medium</a:t>
            </a:r>
            <a:endParaRPr lang="en-US" sz="1575" dirty="0"/>
          </a:p>
        </p:txBody>
      </p:sp>
      <p:sp>
        <p:nvSpPr>
          <p:cNvPr id="28" name="Text 26"/>
          <p:cNvSpPr/>
          <p:nvPr/>
        </p:nvSpPr>
        <p:spPr>
          <a:xfrm>
            <a:off x="15519871" y="5824509"/>
            <a:ext cx="1123950" cy="3476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1875" b="1" dirty="0">
                <a:solidFill>
                  <a:srgbClr val="B579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6.0</a:t>
            </a:r>
            <a:endParaRPr lang="en-US" sz="1875" dirty="0"/>
          </a:p>
        </p:txBody>
      </p:sp>
      <p:sp>
        <p:nvSpPr>
          <p:cNvPr id="29" name="Shape 27"/>
          <p:cNvSpPr/>
          <p:nvPr/>
        </p:nvSpPr>
        <p:spPr>
          <a:xfrm>
            <a:off x="1225135" y="7463944"/>
            <a:ext cx="15837731" cy="9525"/>
          </a:xfrm>
          <a:prstGeom prst="rect">
            <a:avLst/>
          </a:prstGeom>
          <a:solidFill>
            <a:srgbClr val="28281E">
              <a:alpha val="10000"/>
            </a:srgbClr>
          </a:solidFill>
          <a:ln/>
        </p:spPr>
      </p:sp>
      <p:sp>
        <p:nvSpPr>
          <p:cNvPr id="30" name="Text 28"/>
          <p:cNvSpPr/>
          <p:nvPr/>
        </p:nvSpPr>
        <p:spPr>
          <a:xfrm>
            <a:off x="1644179" y="6804357"/>
            <a:ext cx="3139440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025" b="1" dirty="0">
                <a:solidFill>
                  <a:srgbClr val="1324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Stakeholder risk</a:t>
            </a:r>
            <a:endParaRPr lang="en-US" sz="2025" dirty="0"/>
          </a:p>
        </p:txBody>
      </p:sp>
      <p:sp>
        <p:nvSpPr>
          <p:cNvPr id="31" name="Text 29"/>
          <p:cNvSpPr/>
          <p:nvPr/>
        </p:nvSpPr>
        <p:spPr>
          <a:xfrm>
            <a:off x="4939792" y="6823146"/>
            <a:ext cx="8503736" cy="33380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725" dirty="0">
                <a:solidFill>
                  <a:srgbClr val="5F6B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 you know what each person will push back on?</a:t>
            </a:r>
            <a:endParaRPr lang="en-US" sz="1725" dirty="0"/>
          </a:p>
        </p:txBody>
      </p:sp>
      <p:sp>
        <p:nvSpPr>
          <p:cNvPr id="32" name="Shape 30"/>
          <p:cNvSpPr/>
          <p:nvPr/>
        </p:nvSpPr>
        <p:spPr>
          <a:xfrm>
            <a:off x="13614890" y="6928163"/>
            <a:ext cx="85669" cy="85669"/>
          </a:xfrm>
          <a:prstGeom prst="ellipse">
            <a:avLst/>
          </a:prstGeom>
          <a:solidFill>
            <a:srgbClr val="C0573A"/>
          </a:solidFill>
          <a:ln/>
        </p:spPr>
      </p:sp>
      <p:sp>
        <p:nvSpPr>
          <p:cNvPr id="33" name="Text 31"/>
          <p:cNvSpPr/>
          <p:nvPr/>
        </p:nvSpPr>
        <p:spPr>
          <a:xfrm>
            <a:off x="13805297" y="6840076"/>
            <a:ext cx="587053" cy="3000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575" b="1" dirty="0">
                <a:solidFill>
                  <a:srgbClr val="C057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Weak</a:t>
            </a:r>
            <a:endParaRPr lang="en-US" sz="1575" dirty="0"/>
          </a:p>
        </p:txBody>
      </p:sp>
      <p:sp>
        <p:nvSpPr>
          <p:cNvPr id="34" name="Text 32"/>
          <p:cNvSpPr/>
          <p:nvPr/>
        </p:nvSpPr>
        <p:spPr>
          <a:xfrm>
            <a:off x="15519871" y="6816263"/>
            <a:ext cx="1123950" cy="3476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1875" b="1" dirty="0">
                <a:solidFill>
                  <a:srgbClr val="C057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5.5</a:t>
            </a:r>
            <a:endParaRPr lang="en-US" sz="1875" dirty="0"/>
          </a:p>
        </p:txBody>
      </p:sp>
      <p:sp>
        <p:nvSpPr>
          <p:cNvPr id="35" name="Text 33"/>
          <p:cNvSpPr/>
          <p:nvPr/>
        </p:nvSpPr>
        <p:spPr>
          <a:xfrm>
            <a:off x="1644179" y="7796110"/>
            <a:ext cx="3139440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025" b="1" dirty="0">
                <a:solidFill>
                  <a:srgbClr val="1324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Decision ask</a:t>
            </a:r>
            <a:endParaRPr lang="en-US" sz="2025" dirty="0"/>
          </a:p>
        </p:txBody>
      </p:sp>
      <p:sp>
        <p:nvSpPr>
          <p:cNvPr id="36" name="Text 34"/>
          <p:cNvSpPr/>
          <p:nvPr/>
        </p:nvSpPr>
        <p:spPr>
          <a:xfrm>
            <a:off x="4939792" y="7814900"/>
            <a:ext cx="8503736" cy="33380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725" dirty="0">
                <a:solidFill>
                  <a:srgbClr val="5F6B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 your ask specific enough to approve, reject, or revise?</a:t>
            </a:r>
            <a:endParaRPr lang="en-US" sz="1725" dirty="0"/>
          </a:p>
        </p:txBody>
      </p:sp>
      <p:sp>
        <p:nvSpPr>
          <p:cNvPr id="37" name="Shape 35"/>
          <p:cNvSpPr/>
          <p:nvPr/>
        </p:nvSpPr>
        <p:spPr>
          <a:xfrm>
            <a:off x="13614890" y="7919917"/>
            <a:ext cx="85669" cy="85669"/>
          </a:xfrm>
          <a:prstGeom prst="ellipse">
            <a:avLst/>
          </a:prstGeom>
          <a:solidFill>
            <a:srgbClr val="C0573A"/>
          </a:solidFill>
          <a:ln/>
        </p:spPr>
      </p:sp>
      <p:sp>
        <p:nvSpPr>
          <p:cNvPr id="38" name="Text 36"/>
          <p:cNvSpPr/>
          <p:nvPr/>
        </p:nvSpPr>
        <p:spPr>
          <a:xfrm>
            <a:off x="13805297" y="7831829"/>
            <a:ext cx="587053" cy="3000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575" b="1" dirty="0">
                <a:solidFill>
                  <a:srgbClr val="C057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Weak</a:t>
            </a:r>
            <a:endParaRPr lang="en-US" sz="1575" dirty="0"/>
          </a:p>
        </p:txBody>
      </p:sp>
      <p:sp>
        <p:nvSpPr>
          <p:cNvPr id="39" name="Text 37"/>
          <p:cNvSpPr/>
          <p:nvPr/>
        </p:nvSpPr>
        <p:spPr>
          <a:xfrm>
            <a:off x="15519871" y="7808016"/>
            <a:ext cx="1123950" cy="3476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1875" b="1" dirty="0">
                <a:solidFill>
                  <a:srgbClr val="C057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5.2</a:t>
            </a:r>
            <a:endParaRPr lang="en-US" sz="1875" dirty="0"/>
          </a:p>
        </p:txBody>
      </p:sp>
      <p:sp>
        <p:nvSpPr>
          <p:cNvPr id="40" name="Text 38"/>
          <p:cNvSpPr/>
          <p:nvPr/>
        </p:nvSpPr>
        <p:spPr>
          <a:xfrm>
            <a:off x="1219181" y="9569090"/>
            <a:ext cx="950751" cy="22264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275" dirty="0">
                <a:solidFill>
                  <a:srgbClr val="2E3C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PROBEN.IO</a:t>
            </a:r>
            <a:endParaRPr lang="en-US" sz="1275" dirty="0"/>
          </a:p>
        </p:txBody>
      </p:sp>
      <p:sp>
        <p:nvSpPr>
          <p:cNvPr id="41" name="Text 39"/>
          <p:cNvSpPr/>
          <p:nvPr/>
        </p:nvSpPr>
        <p:spPr>
          <a:xfrm>
            <a:off x="16388581" y="9569090"/>
            <a:ext cx="756438" cy="22264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75" dirty="0">
                <a:solidFill>
                  <a:srgbClr val="8A94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05 / 09</a:t>
            </a:r>
            <a:endParaRPr lang="en-US" sz="1275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6F7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219181" y="1047750"/>
            <a:ext cx="16325126" cy="2702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425" spc="314" kern="0" dirty="0">
                <a:solidFill>
                  <a:srgbClr val="5563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CONTEXT GAPS</a:t>
            </a:r>
            <a:endParaRPr lang="en-US" sz="1425" dirty="0"/>
          </a:p>
        </p:txBody>
      </p:sp>
      <p:sp>
        <p:nvSpPr>
          <p:cNvPr id="3" name="Text 1"/>
          <p:cNvSpPr/>
          <p:nvPr/>
        </p:nvSpPr>
        <p:spPr>
          <a:xfrm>
            <a:off x="1219181" y="1566297"/>
            <a:ext cx="16325126" cy="7711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5550" b="1" spc="-139" kern="0" dirty="0">
                <a:solidFill>
                  <a:srgbClr val="1324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 doesn't just score — it tells you why.</a:t>
            </a:r>
            <a:endParaRPr lang="en-US" sz="5550" dirty="0"/>
          </a:p>
        </p:txBody>
      </p:sp>
      <p:sp>
        <p:nvSpPr>
          <p:cNvPr id="4" name="Shape 2"/>
          <p:cNvSpPr/>
          <p:nvPr/>
        </p:nvSpPr>
        <p:spPr>
          <a:xfrm>
            <a:off x="1219181" y="2911165"/>
            <a:ext cx="5105363" cy="3908413"/>
          </a:xfrm>
          <a:prstGeom prst="roundRect">
            <a:avLst>
              <a:gd name="adj" fmla="val 438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476250" dist="190500" dir="5400000">
              <a:srgbClr val="283C5A">
                <a:alpha val="3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219181" y="6813625"/>
            <a:ext cx="5105363" cy="9525"/>
          </a:xfrm>
          <a:prstGeom prst="rect">
            <a:avLst/>
          </a:prstGeom>
          <a:solidFill>
            <a:srgbClr val="28281E">
              <a:alpha val="10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1219181" y="2911165"/>
            <a:ext cx="5105363" cy="35719"/>
          </a:xfrm>
          <a:prstGeom prst="rect">
            <a:avLst/>
          </a:prstGeom>
          <a:solidFill>
            <a:srgbClr val="C0573A"/>
          </a:solidFill>
          <a:ln/>
        </p:spPr>
      </p:sp>
      <p:sp>
        <p:nvSpPr>
          <p:cNvPr id="7" name="Shape 5"/>
          <p:cNvSpPr/>
          <p:nvPr/>
        </p:nvSpPr>
        <p:spPr>
          <a:xfrm>
            <a:off x="1219181" y="2911165"/>
            <a:ext cx="9525" cy="3908413"/>
          </a:xfrm>
          <a:prstGeom prst="rect">
            <a:avLst/>
          </a:prstGeom>
          <a:solidFill>
            <a:srgbClr val="28281E">
              <a:alpha val="10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6318591" y="2911165"/>
            <a:ext cx="9525" cy="3908413"/>
          </a:xfrm>
          <a:prstGeom prst="rect">
            <a:avLst/>
          </a:prstGeom>
          <a:solidFill>
            <a:srgbClr val="28281E">
              <a:alpha val="10000"/>
            </a:srgbClr>
          </a:solidFill>
          <a:ln/>
        </p:spPr>
      </p:sp>
      <p:sp>
        <p:nvSpPr>
          <p:cNvPr id="9" name="Text 7"/>
          <p:cNvSpPr/>
          <p:nvPr/>
        </p:nvSpPr>
        <p:spPr>
          <a:xfrm>
            <a:off x="1606135" y="3327884"/>
            <a:ext cx="4461400" cy="19288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spc="168" kern="0" dirty="0">
                <a:solidFill>
                  <a:srgbClr val="C057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GAP 01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1606135" y="3654097"/>
            <a:ext cx="4461400" cy="3809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250" b="1" dirty="0">
                <a:solidFill>
                  <a:srgbClr val="1324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 impact is unclear</a:t>
            </a:r>
            <a:endParaRPr lang="en-US" sz="2250" dirty="0"/>
          </a:p>
        </p:txBody>
      </p:sp>
      <p:sp>
        <p:nvSpPr>
          <p:cNvPr id="11" name="Text 9"/>
          <p:cNvSpPr/>
          <p:nvPr/>
        </p:nvSpPr>
        <p:spPr>
          <a:xfrm>
            <a:off x="1606135" y="4130254"/>
            <a:ext cx="4461400" cy="6667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650" dirty="0">
                <a:solidFill>
                  <a:srgbClr val="5F6B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 mention validation, but not the revenue, cost, or risk behind it.</a:t>
            </a:r>
            <a:endParaRPr lang="en-US" sz="1650" dirty="0"/>
          </a:p>
        </p:txBody>
      </p:sp>
      <p:sp>
        <p:nvSpPr>
          <p:cNvPr id="12" name="Shape 10"/>
          <p:cNvSpPr/>
          <p:nvPr/>
        </p:nvSpPr>
        <p:spPr>
          <a:xfrm>
            <a:off x="1606135" y="4987411"/>
            <a:ext cx="4331457" cy="1102351"/>
          </a:xfrm>
          <a:prstGeom prst="roundRect">
            <a:avLst>
              <a:gd name="adj" fmla="val 9505"/>
            </a:avLst>
          </a:prstGeom>
          <a:solidFill>
            <a:srgbClr val="F3F6F1"/>
          </a:solidFill>
          <a:ln/>
        </p:spPr>
      </p:sp>
      <p:sp>
        <p:nvSpPr>
          <p:cNvPr id="13" name="Text 11"/>
          <p:cNvSpPr/>
          <p:nvPr/>
        </p:nvSpPr>
        <p:spPr>
          <a:xfrm>
            <a:off x="1796635" y="5158842"/>
            <a:ext cx="4068970" cy="16906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spc="144" kern="0" dirty="0">
                <a:solidFill>
                  <a:srgbClr val="C057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WHY IT MATTERS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1796635" y="5365992"/>
            <a:ext cx="4068970" cy="5904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500" dirty="0">
                <a:solidFill>
                  <a:srgbClr val="2E3C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Without this, your ask may sound like an opinion, not a business case.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6591226" y="2911165"/>
            <a:ext cx="5105456" cy="3908413"/>
          </a:xfrm>
          <a:prstGeom prst="roundRect">
            <a:avLst>
              <a:gd name="adj" fmla="val 438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476250" dist="190500" dir="5400000">
              <a:srgbClr val="283C5A">
                <a:alpha val="3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591226" y="6813625"/>
            <a:ext cx="5105456" cy="9525"/>
          </a:xfrm>
          <a:prstGeom prst="rect">
            <a:avLst/>
          </a:prstGeom>
          <a:solidFill>
            <a:srgbClr val="28281E">
              <a:alpha val="10000"/>
            </a:srgbClr>
          </a:solidFill>
          <a:ln/>
        </p:spPr>
      </p:sp>
      <p:sp>
        <p:nvSpPr>
          <p:cNvPr id="17" name="Shape 15"/>
          <p:cNvSpPr/>
          <p:nvPr/>
        </p:nvSpPr>
        <p:spPr>
          <a:xfrm>
            <a:off x="6591226" y="2911165"/>
            <a:ext cx="5105456" cy="35719"/>
          </a:xfrm>
          <a:prstGeom prst="rect">
            <a:avLst/>
          </a:prstGeom>
          <a:solidFill>
            <a:srgbClr val="C0573A"/>
          </a:solidFill>
          <a:ln/>
        </p:spPr>
      </p:sp>
      <p:sp>
        <p:nvSpPr>
          <p:cNvPr id="18" name="Shape 16"/>
          <p:cNvSpPr/>
          <p:nvPr/>
        </p:nvSpPr>
        <p:spPr>
          <a:xfrm>
            <a:off x="6591226" y="2911165"/>
            <a:ext cx="9525" cy="3908413"/>
          </a:xfrm>
          <a:prstGeom prst="rect">
            <a:avLst/>
          </a:prstGeom>
          <a:solidFill>
            <a:srgbClr val="28281E">
              <a:alpha val="10000"/>
            </a:srgbClr>
          </a:solidFill>
          <a:ln/>
        </p:spPr>
      </p:sp>
      <p:sp>
        <p:nvSpPr>
          <p:cNvPr id="19" name="Shape 17"/>
          <p:cNvSpPr/>
          <p:nvPr/>
        </p:nvSpPr>
        <p:spPr>
          <a:xfrm>
            <a:off x="11690728" y="2911165"/>
            <a:ext cx="9525" cy="3908413"/>
          </a:xfrm>
          <a:prstGeom prst="rect">
            <a:avLst/>
          </a:prstGeom>
          <a:solidFill>
            <a:srgbClr val="28281E">
              <a:alpha val="10000"/>
            </a:srgbClr>
          </a:solidFill>
          <a:ln/>
        </p:spPr>
      </p:sp>
      <p:sp>
        <p:nvSpPr>
          <p:cNvPr id="20" name="Text 18"/>
          <p:cNvSpPr/>
          <p:nvPr/>
        </p:nvSpPr>
        <p:spPr>
          <a:xfrm>
            <a:off x="6978179" y="3327884"/>
            <a:ext cx="4461496" cy="19288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spc="168" kern="0" dirty="0">
                <a:solidFill>
                  <a:srgbClr val="C057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GAP 02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6978179" y="3654097"/>
            <a:ext cx="4461496" cy="72382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250" b="1" dirty="0">
                <a:solidFill>
                  <a:srgbClr val="1324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Stakeholder concern is underdefined</a:t>
            </a:r>
            <a:endParaRPr lang="en-US" sz="2250" dirty="0"/>
          </a:p>
        </p:txBody>
      </p:sp>
      <p:sp>
        <p:nvSpPr>
          <p:cNvPr id="22" name="Text 20"/>
          <p:cNvSpPr/>
          <p:nvPr/>
        </p:nvSpPr>
        <p:spPr>
          <a:xfrm>
            <a:off x="6978179" y="4473117"/>
            <a:ext cx="4461496" cy="6667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650" dirty="0">
                <a:solidFill>
                  <a:srgbClr val="5F6B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Dana likely cares about timing and team capacity.</a:t>
            </a:r>
            <a:endParaRPr lang="en-US" sz="1650" dirty="0"/>
          </a:p>
        </p:txBody>
      </p:sp>
      <p:sp>
        <p:nvSpPr>
          <p:cNvPr id="23" name="Shape 21"/>
          <p:cNvSpPr/>
          <p:nvPr/>
        </p:nvSpPr>
        <p:spPr>
          <a:xfrm>
            <a:off x="6978179" y="5330273"/>
            <a:ext cx="4331550" cy="1102351"/>
          </a:xfrm>
          <a:prstGeom prst="roundRect">
            <a:avLst>
              <a:gd name="adj" fmla="val 9505"/>
            </a:avLst>
          </a:prstGeom>
          <a:solidFill>
            <a:srgbClr val="F3F6F1"/>
          </a:solidFill>
          <a:ln/>
        </p:spPr>
      </p:sp>
      <p:sp>
        <p:nvSpPr>
          <p:cNvPr id="24" name="Text 22"/>
          <p:cNvSpPr/>
          <p:nvPr/>
        </p:nvSpPr>
        <p:spPr>
          <a:xfrm>
            <a:off x="7168679" y="5501705"/>
            <a:ext cx="4069066" cy="16906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spc="144" kern="0" dirty="0">
                <a:solidFill>
                  <a:srgbClr val="C057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WHY IT MATTERS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7168679" y="5708855"/>
            <a:ext cx="4069066" cy="5904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500" dirty="0">
                <a:solidFill>
                  <a:srgbClr val="2E3C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If you can't name the objection, you can't prepare the answer that decides the meeting.</a:t>
            </a:r>
            <a:endParaRPr lang="en-US" sz="1500" dirty="0"/>
          </a:p>
        </p:txBody>
      </p:sp>
      <p:sp>
        <p:nvSpPr>
          <p:cNvPr id="26" name="Shape 24"/>
          <p:cNvSpPr/>
          <p:nvPr/>
        </p:nvSpPr>
        <p:spPr>
          <a:xfrm>
            <a:off x="11963363" y="2911165"/>
            <a:ext cx="5105456" cy="3908413"/>
          </a:xfrm>
          <a:prstGeom prst="roundRect">
            <a:avLst>
              <a:gd name="adj" fmla="val 438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476250" dist="190500" dir="5400000">
              <a:srgbClr val="283C5A">
                <a:alpha val="30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11963363" y="6813625"/>
            <a:ext cx="5105456" cy="9525"/>
          </a:xfrm>
          <a:prstGeom prst="rect">
            <a:avLst/>
          </a:prstGeom>
          <a:solidFill>
            <a:srgbClr val="28281E">
              <a:alpha val="10000"/>
            </a:srgbClr>
          </a:solidFill>
          <a:ln/>
        </p:spPr>
      </p:sp>
      <p:sp>
        <p:nvSpPr>
          <p:cNvPr id="28" name="Shape 26"/>
          <p:cNvSpPr/>
          <p:nvPr/>
        </p:nvSpPr>
        <p:spPr>
          <a:xfrm>
            <a:off x="11963363" y="2911165"/>
            <a:ext cx="5105456" cy="35719"/>
          </a:xfrm>
          <a:prstGeom prst="rect">
            <a:avLst/>
          </a:prstGeom>
          <a:solidFill>
            <a:srgbClr val="C0573A"/>
          </a:solidFill>
          <a:ln/>
        </p:spPr>
      </p:sp>
      <p:sp>
        <p:nvSpPr>
          <p:cNvPr id="29" name="Shape 27"/>
          <p:cNvSpPr/>
          <p:nvPr/>
        </p:nvSpPr>
        <p:spPr>
          <a:xfrm>
            <a:off x="11963363" y="2911165"/>
            <a:ext cx="9525" cy="3908413"/>
          </a:xfrm>
          <a:prstGeom prst="rect">
            <a:avLst/>
          </a:prstGeom>
          <a:solidFill>
            <a:srgbClr val="28281E">
              <a:alpha val="10000"/>
            </a:srgbClr>
          </a:solidFill>
          <a:ln/>
        </p:spPr>
      </p:sp>
      <p:sp>
        <p:nvSpPr>
          <p:cNvPr id="30" name="Shape 28"/>
          <p:cNvSpPr/>
          <p:nvPr/>
        </p:nvSpPr>
        <p:spPr>
          <a:xfrm>
            <a:off x="17062865" y="2911165"/>
            <a:ext cx="9525" cy="3908413"/>
          </a:xfrm>
          <a:prstGeom prst="rect">
            <a:avLst/>
          </a:prstGeom>
          <a:solidFill>
            <a:srgbClr val="28281E">
              <a:alpha val="10000"/>
            </a:srgbClr>
          </a:solidFill>
          <a:ln/>
        </p:spPr>
      </p:sp>
      <p:sp>
        <p:nvSpPr>
          <p:cNvPr id="31" name="Text 29"/>
          <p:cNvSpPr/>
          <p:nvPr/>
        </p:nvSpPr>
        <p:spPr>
          <a:xfrm>
            <a:off x="12350316" y="3327884"/>
            <a:ext cx="4461496" cy="19288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spc="168" kern="0" dirty="0">
                <a:solidFill>
                  <a:srgbClr val="C057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GAP 03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12350316" y="3654097"/>
            <a:ext cx="4461496" cy="3809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250" b="1" dirty="0">
                <a:solidFill>
                  <a:srgbClr val="1324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Decision threshold is missing</a:t>
            </a:r>
            <a:endParaRPr lang="en-US" sz="2250" dirty="0"/>
          </a:p>
        </p:txBody>
      </p:sp>
      <p:sp>
        <p:nvSpPr>
          <p:cNvPr id="33" name="Text 31"/>
          <p:cNvSpPr/>
          <p:nvPr/>
        </p:nvSpPr>
        <p:spPr>
          <a:xfrm>
            <a:off x="12350316" y="4130254"/>
            <a:ext cx="4461496" cy="6667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650" dirty="0">
                <a:solidFill>
                  <a:srgbClr val="5F6B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 ask to validate, but don't define what result would justify the next step.</a:t>
            </a:r>
            <a:endParaRPr lang="en-US" sz="1650" dirty="0"/>
          </a:p>
        </p:txBody>
      </p:sp>
      <p:sp>
        <p:nvSpPr>
          <p:cNvPr id="34" name="Shape 32"/>
          <p:cNvSpPr/>
          <p:nvPr/>
        </p:nvSpPr>
        <p:spPr>
          <a:xfrm>
            <a:off x="12350316" y="4987411"/>
            <a:ext cx="4331550" cy="1378521"/>
          </a:xfrm>
          <a:prstGeom prst="roundRect">
            <a:avLst>
              <a:gd name="adj" fmla="val 7601"/>
            </a:avLst>
          </a:prstGeom>
          <a:solidFill>
            <a:srgbClr val="F3F6F1"/>
          </a:solidFill>
          <a:ln/>
        </p:spPr>
      </p:sp>
      <p:sp>
        <p:nvSpPr>
          <p:cNvPr id="35" name="Text 33"/>
          <p:cNvSpPr/>
          <p:nvPr/>
        </p:nvSpPr>
        <p:spPr>
          <a:xfrm>
            <a:off x="12540816" y="5158842"/>
            <a:ext cx="4069066" cy="16906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spc="144" kern="0" dirty="0">
                <a:solidFill>
                  <a:srgbClr val="C057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WHY IT MATTERS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12540816" y="5365992"/>
            <a:ext cx="4069066" cy="86660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500" dirty="0">
                <a:solidFill>
                  <a:srgbClr val="2E3C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clear threshold turns a vague request into something a stakeholder can approve or reject.</a:t>
            </a:r>
            <a:endParaRPr lang="en-US" sz="1500" dirty="0"/>
          </a:p>
        </p:txBody>
      </p:sp>
      <p:sp>
        <p:nvSpPr>
          <p:cNvPr id="37" name="Text 35"/>
          <p:cNvSpPr/>
          <p:nvPr/>
        </p:nvSpPr>
        <p:spPr>
          <a:xfrm>
            <a:off x="1219181" y="9569090"/>
            <a:ext cx="950751" cy="22264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275" dirty="0">
                <a:solidFill>
                  <a:srgbClr val="2E3C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PROBEN.IO</a:t>
            </a:r>
            <a:endParaRPr lang="en-US" sz="1275" dirty="0"/>
          </a:p>
        </p:txBody>
      </p:sp>
      <p:sp>
        <p:nvSpPr>
          <p:cNvPr id="38" name="Text 36"/>
          <p:cNvSpPr/>
          <p:nvPr/>
        </p:nvSpPr>
        <p:spPr>
          <a:xfrm>
            <a:off x="16388581" y="9569090"/>
            <a:ext cx="756438" cy="22264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75" dirty="0">
                <a:solidFill>
                  <a:srgbClr val="8A94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06 / 09</a:t>
            </a:r>
            <a:endParaRPr lang="en-US" sz="1275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6F7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219181" y="1047750"/>
            <a:ext cx="16325126" cy="2702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425" spc="314" kern="0" dirty="0">
                <a:solidFill>
                  <a:srgbClr val="5563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HOW IT WORKS</a:t>
            </a:r>
            <a:endParaRPr lang="en-US" sz="1425" dirty="0"/>
          </a:p>
        </p:txBody>
      </p:sp>
      <p:sp>
        <p:nvSpPr>
          <p:cNvPr id="3" name="Text 1"/>
          <p:cNvSpPr/>
          <p:nvPr/>
        </p:nvSpPr>
        <p:spPr>
          <a:xfrm>
            <a:off x="1219181" y="1566054"/>
            <a:ext cx="16325126" cy="7711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5550" b="1" spc="-139" kern="0" dirty="0">
                <a:solidFill>
                  <a:srgbClr val="1324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From rough notes to rehearsed in four steps.</a:t>
            </a:r>
            <a:endParaRPr lang="en-US" sz="5550" dirty="0"/>
          </a:p>
        </p:txBody>
      </p:sp>
      <p:sp>
        <p:nvSpPr>
          <p:cNvPr id="4" name="Shape 2"/>
          <p:cNvSpPr/>
          <p:nvPr/>
        </p:nvSpPr>
        <p:spPr>
          <a:xfrm>
            <a:off x="1219181" y="2967733"/>
            <a:ext cx="3790931" cy="3063348"/>
          </a:xfrm>
          <a:prstGeom prst="roundRect">
            <a:avLst>
              <a:gd name="adj" fmla="val 5597"/>
            </a:avLst>
          </a:prstGeom>
          <a:solidFill>
            <a:srgbClr val="FFFFFF"/>
          </a:solidFill>
          <a:ln w="5953">
            <a:solidFill>
              <a:srgbClr val="28281E">
                <a:alpha val="10000"/>
              </a:srgbClr>
            </a:solidFill>
            <a:prstDash val="solid"/>
          </a:ln>
          <a:effectLst>
            <a:outerShdw sx="100000" sy="100000" kx="0" ky="0" algn="bl" rotWithShape="0" blurRad="476250" dist="190500" dir="5400000">
              <a:srgbClr val="283C5A">
                <a:alpha val="3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606135" y="3354686"/>
            <a:ext cx="571500" cy="571500"/>
          </a:xfrm>
          <a:prstGeom prst="roundRect">
            <a:avLst>
              <a:gd name="adj" fmla="val 25000"/>
            </a:avLst>
          </a:prstGeom>
          <a:solidFill>
            <a:srgbClr val="F3F6F1"/>
          </a:solidFill>
          <a:ln w="5953">
            <a:solidFill>
              <a:srgbClr val="28281E">
                <a:alpha val="1000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612088" y="3360639"/>
            <a:ext cx="635794" cy="59769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dirty="0">
                <a:solidFill>
                  <a:srgbClr val="1324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📄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4362431" y="3542209"/>
            <a:ext cx="336928" cy="23455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spc="216" kern="0" dirty="0">
                <a:solidFill>
                  <a:srgbClr val="8A94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1606135" y="4211936"/>
            <a:ext cx="3107536" cy="41314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b="1" dirty="0">
                <a:solidFill>
                  <a:srgbClr val="1324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Paste context</a:t>
            </a:r>
            <a:endParaRPr lang="en-US" sz="2250" dirty="0"/>
          </a:p>
        </p:txBody>
      </p:sp>
      <p:sp>
        <p:nvSpPr>
          <p:cNvPr id="9" name="Text 7"/>
          <p:cNvSpPr/>
          <p:nvPr/>
        </p:nvSpPr>
        <p:spPr>
          <a:xfrm>
            <a:off x="1606135" y="4701208"/>
            <a:ext cx="3107536" cy="6667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650" dirty="0">
                <a:solidFill>
                  <a:srgbClr val="5F6B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Agenda, notes, slide summary, or a draft answer.</a:t>
            </a:r>
            <a:endParaRPr lang="en-US" sz="1650" dirty="0"/>
          </a:p>
        </p:txBody>
      </p:sp>
      <p:sp>
        <p:nvSpPr>
          <p:cNvPr id="10" name="Shape 8"/>
          <p:cNvSpPr/>
          <p:nvPr/>
        </p:nvSpPr>
        <p:spPr>
          <a:xfrm>
            <a:off x="5238657" y="2967733"/>
            <a:ext cx="3791024" cy="3063348"/>
          </a:xfrm>
          <a:prstGeom prst="roundRect">
            <a:avLst>
              <a:gd name="adj" fmla="val 5597"/>
            </a:avLst>
          </a:prstGeom>
          <a:solidFill>
            <a:srgbClr val="FFFFFF"/>
          </a:solidFill>
          <a:ln w="5953">
            <a:solidFill>
              <a:srgbClr val="28281E">
                <a:alpha val="10000"/>
              </a:srgbClr>
            </a:solidFill>
            <a:prstDash val="solid"/>
          </a:ln>
          <a:effectLst>
            <a:outerShdw sx="100000" sy="100000" kx="0" ky="0" algn="bl" rotWithShape="0" blurRad="476250" dist="190500" dir="5400000">
              <a:srgbClr val="283C5A">
                <a:alpha val="3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5625610" y="3354686"/>
            <a:ext cx="571500" cy="571500"/>
          </a:xfrm>
          <a:prstGeom prst="roundRect">
            <a:avLst>
              <a:gd name="adj" fmla="val 25000"/>
            </a:avLst>
          </a:prstGeom>
          <a:solidFill>
            <a:srgbClr val="F3F6F1"/>
          </a:solidFill>
          <a:ln w="5953">
            <a:solidFill>
              <a:srgbClr val="28281E">
                <a:alpha val="1000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631563" y="3360639"/>
            <a:ext cx="635794" cy="59769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dirty="0">
                <a:solidFill>
                  <a:srgbClr val="1324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🔍</a:t>
            </a:r>
            <a:endParaRPr lang="en-US" sz="2100" dirty="0"/>
          </a:p>
        </p:txBody>
      </p:sp>
      <p:sp>
        <p:nvSpPr>
          <p:cNvPr id="13" name="Text 11"/>
          <p:cNvSpPr/>
          <p:nvPr/>
        </p:nvSpPr>
        <p:spPr>
          <a:xfrm>
            <a:off x="8382000" y="3542209"/>
            <a:ext cx="336928" cy="23455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spc="216" kern="0" dirty="0">
                <a:solidFill>
                  <a:srgbClr val="8A94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5625610" y="4211936"/>
            <a:ext cx="3107632" cy="41314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b="1" dirty="0">
                <a:solidFill>
                  <a:srgbClr val="1324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Find missing context</a:t>
            </a:r>
            <a:endParaRPr lang="en-US" sz="2250" dirty="0"/>
          </a:p>
        </p:txBody>
      </p:sp>
      <p:sp>
        <p:nvSpPr>
          <p:cNvPr id="15" name="Text 13"/>
          <p:cNvSpPr/>
          <p:nvPr/>
        </p:nvSpPr>
        <p:spPr>
          <a:xfrm>
            <a:off x="5625610" y="4701208"/>
            <a:ext cx="3107632" cy="98101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650" dirty="0">
                <a:solidFill>
                  <a:srgbClr val="5F6B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Proben surfaces the logic, evidence, or concern you left out.</a:t>
            </a:r>
            <a:endParaRPr lang="en-US" sz="1650" dirty="0"/>
          </a:p>
        </p:txBody>
      </p:sp>
      <p:sp>
        <p:nvSpPr>
          <p:cNvPr id="16" name="Shape 14"/>
          <p:cNvSpPr/>
          <p:nvPr/>
        </p:nvSpPr>
        <p:spPr>
          <a:xfrm>
            <a:off x="9258226" y="2967733"/>
            <a:ext cx="3791024" cy="3063348"/>
          </a:xfrm>
          <a:prstGeom prst="roundRect">
            <a:avLst>
              <a:gd name="adj" fmla="val 5597"/>
            </a:avLst>
          </a:prstGeom>
          <a:solidFill>
            <a:srgbClr val="FFFFFF"/>
          </a:solidFill>
          <a:ln w="5953">
            <a:solidFill>
              <a:srgbClr val="28281E">
                <a:alpha val="10000"/>
              </a:srgbClr>
            </a:solidFill>
            <a:prstDash val="solid"/>
          </a:ln>
          <a:effectLst>
            <a:outerShdw sx="100000" sy="100000" kx="0" ky="0" algn="bl" rotWithShape="0" blurRad="476250" dist="190500" dir="5400000">
              <a:srgbClr val="283C5A">
                <a:alpha val="3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9645179" y="3354686"/>
            <a:ext cx="571500" cy="571500"/>
          </a:xfrm>
          <a:prstGeom prst="roundRect">
            <a:avLst>
              <a:gd name="adj" fmla="val 25000"/>
            </a:avLst>
          </a:prstGeom>
          <a:solidFill>
            <a:srgbClr val="F3F6F1"/>
          </a:solidFill>
          <a:ln w="5953">
            <a:solidFill>
              <a:srgbClr val="28281E">
                <a:alpha val="1000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651132" y="3360639"/>
            <a:ext cx="635794" cy="59769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dirty="0">
                <a:solidFill>
                  <a:srgbClr val="1324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📊</a:t>
            </a:r>
            <a:endParaRPr lang="en-US" sz="2100" dirty="0"/>
          </a:p>
        </p:txBody>
      </p:sp>
      <p:sp>
        <p:nvSpPr>
          <p:cNvPr id="19" name="Text 17"/>
          <p:cNvSpPr/>
          <p:nvPr/>
        </p:nvSpPr>
        <p:spPr>
          <a:xfrm>
            <a:off x="12401569" y="3542209"/>
            <a:ext cx="336928" cy="23455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spc="216" kern="0" dirty="0">
                <a:solidFill>
                  <a:srgbClr val="8A94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</a:t>
            </a:r>
            <a:endParaRPr lang="en-US" sz="1350" dirty="0"/>
          </a:p>
        </p:txBody>
      </p:sp>
      <p:sp>
        <p:nvSpPr>
          <p:cNvPr id="20" name="Text 18"/>
          <p:cNvSpPr/>
          <p:nvPr/>
        </p:nvSpPr>
        <p:spPr>
          <a:xfrm>
            <a:off x="9645179" y="4211936"/>
            <a:ext cx="3107632" cy="41314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b="1" dirty="0">
                <a:solidFill>
                  <a:srgbClr val="1324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Readiness report</a:t>
            </a:r>
            <a:endParaRPr lang="en-US" sz="2250" dirty="0"/>
          </a:p>
        </p:txBody>
      </p:sp>
      <p:sp>
        <p:nvSpPr>
          <p:cNvPr id="21" name="Text 19"/>
          <p:cNvSpPr/>
          <p:nvPr/>
        </p:nvSpPr>
        <p:spPr>
          <a:xfrm>
            <a:off x="9645179" y="4701208"/>
            <a:ext cx="3107632" cy="6667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650" dirty="0">
                <a:solidFill>
                  <a:srgbClr val="5F6B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Score, top risks, top fixes, and the questions you'll get.</a:t>
            </a:r>
            <a:endParaRPr lang="en-US" sz="1650" dirty="0"/>
          </a:p>
        </p:txBody>
      </p:sp>
      <p:sp>
        <p:nvSpPr>
          <p:cNvPr id="22" name="Shape 20"/>
          <p:cNvSpPr/>
          <p:nvPr/>
        </p:nvSpPr>
        <p:spPr>
          <a:xfrm>
            <a:off x="13277794" y="2967733"/>
            <a:ext cx="3791024" cy="3063348"/>
          </a:xfrm>
          <a:prstGeom prst="roundRect">
            <a:avLst>
              <a:gd name="adj" fmla="val 5597"/>
            </a:avLst>
          </a:prstGeom>
          <a:solidFill>
            <a:srgbClr val="FFFFFF"/>
          </a:solidFill>
          <a:ln w="5953">
            <a:solidFill>
              <a:srgbClr val="28281E">
                <a:alpha val="10000"/>
              </a:srgbClr>
            </a:solidFill>
            <a:prstDash val="solid"/>
          </a:ln>
          <a:effectLst>
            <a:outerShdw sx="100000" sy="100000" kx="0" ky="0" algn="bl" rotWithShape="0" blurRad="476250" dist="190500" dir="5400000">
              <a:srgbClr val="283C5A">
                <a:alpha val="30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13664747" y="3354686"/>
            <a:ext cx="571500" cy="571500"/>
          </a:xfrm>
          <a:prstGeom prst="roundRect">
            <a:avLst>
              <a:gd name="adj" fmla="val 25000"/>
            </a:avLst>
          </a:prstGeom>
          <a:solidFill>
            <a:srgbClr val="F3F6F1"/>
          </a:solidFill>
          <a:ln w="5953">
            <a:solidFill>
              <a:srgbClr val="28281E">
                <a:alpha val="10000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3670700" y="3360639"/>
            <a:ext cx="635794" cy="59769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dirty="0">
                <a:solidFill>
                  <a:srgbClr val="1324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🎙️</a:t>
            </a:r>
            <a:endParaRPr lang="en-US" sz="2100" dirty="0"/>
          </a:p>
        </p:txBody>
      </p:sp>
      <p:sp>
        <p:nvSpPr>
          <p:cNvPr id="25" name="Text 23"/>
          <p:cNvSpPr/>
          <p:nvPr/>
        </p:nvSpPr>
        <p:spPr>
          <a:xfrm>
            <a:off x="16421137" y="3542209"/>
            <a:ext cx="336928" cy="23455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spc="216" kern="0" dirty="0">
                <a:solidFill>
                  <a:srgbClr val="8A94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04</a:t>
            </a:r>
            <a:endParaRPr lang="en-US" sz="1350" dirty="0"/>
          </a:p>
        </p:txBody>
      </p:sp>
      <p:sp>
        <p:nvSpPr>
          <p:cNvPr id="26" name="Text 24"/>
          <p:cNvSpPr/>
          <p:nvPr/>
        </p:nvSpPr>
        <p:spPr>
          <a:xfrm>
            <a:off x="13664747" y="4211936"/>
            <a:ext cx="3107632" cy="41314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b="1" dirty="0">
                <a:solidFill>
                  <a:srgbClr val="1324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Practice one moment</a:t>
            </a:r>
            <a:endParaRPr lang="en-US" sz="2250" dirty="0"/>
          </a:p>
        </p:txBody>
      </p:sp>
      <p:sp>
        <p:nvSpPr>
          <p:cNvPr id="27" name="Text 25"/>
          <p:cNvSpPr/>
          <p:nvPr/>
        </p:nvSpPr>
        <p:spPr>
          <a:xfrm>
            <a:off x="13664747" y="4701208"/>
            <a:ext cx="3107632" cy="6667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650" dirty="0">
                <a:solidFill>
                  <a:srgbClr val="5F6B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Rehearse the single answer most likely to decide it.</a:t>
            </a:r>
            <a:endParaRPr lang="en-US" sz="1650" dirty="0"/>
          </a:p>
        </p:txBody>
      </p:sp>
      <p:sp>
        <p:nvSpPr>
          <p:cNvPr id="28" name="Text 26"/>
          <p:cNvSpPr/>
          <p:nvPr/>
        </p:nvSpPr>
        <p:spPr>
          <a:xfrm>
            <a:off x="1219181" y="9569090"/>
            <a:ext cx="950751" cy="22264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275" dirty="0">
                <a:solidFill>
                  <a:srgbClr val="2E3C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PROBEN.IO</a:t>
            </a:r>
            <a:endParaRPr lang="en-US" sz="1275" dirty="0"/>
          </a:p>
        </p:txBody>
      </p:sp>
      <p:sp>
        <p:nvSpPr>
          <p:cNvPr id="29" name="Text 27"/>
          <p:cNvSpPr/>
          <p:nvPr/>
        </p:nvSpPr>
        <p:spPr>
          <a:xfrm>
            <a:off x="16388581" y="9569090"/>
            <a:ext cx="756438" cy="22264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75" dirty="0">
                <a:solidFill>
                  <a:srgbClr val="8A94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07 / 09</a:t>
            </a:r>
            <a:endParaRPr lang="en-US" sz="1275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6F7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219181" y="1047750"/>
            <a:ext cx="16325126" cy="2702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425" spc="314" kern="0" dirty="0">
                <a:solidFill>
                  <a:srgbClr val="5563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WHO IT'S FOR</a:t>
            </a:r>
            <a:endParaRPr lang="en-US" sz="1425" dirty="0"/>
          </a:p>
        </p:txBody>
      </p:sp>
      <p:sp>
        <p:nvSpPr>
          <p:cNvPr id="3" name="Text 1"/>
          <p:cNvSpPr/>
          <p:nvPr/>
        </p:nvSpPr>
        <p:spPr>
          <a:xfrm>
            <a:off x="1219181" y="1566287"/>
            <a:ext cx="16325126" cy="7711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5550" b="1" spc="-139" kern="0" dirty="0">
                <a:solidFill>
                  <a:srgbClr val="1324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 anyone walking into a decision.</a:t>
            </a:r>
            <a:endParaRPr lang="en-US" sz="5550" dirty="0"/>
          </a:p>
        </p:txBody>
      </p:sp>
      <p:sp>
        <p:nvSpPr>
          <p:cNvPr id="4" name="Shape 2"/>
          <p:cNvSpPr/>
          <p:nvPr/>
        </p:nvSpPr>
        <p:spPr>
          <a:xfrm>
            <a:off x="1219181" y="2911138"/>
            <a:ext cx="5130850" cy="2051224"/>
          </a:xfrm>
          <a:prstGeom prst="roundRect">
            <a:avLst>
              <a:gd name="adj" fmla="val 8358"/>
            </a:avLst>
          </a:prstGeom>
          <a:solidFill>
            <a:srgbClr val="FFFFFF"/>
          </a:solidFill>
          <a:ln w="5953">
            <a:solidFill>
              <a:srgbClr val="28281E">
                <a:alpha val="10000"/>
              </a:srgbClr>
            </a:solidFill>
            <a:prstDash val="solid"/>
          </a:ln>
          <a:effectLst>
            <a:outerShdw sx="100000" sy="100000" kx="0" ky="0" algn="bl" rotWithShape="0" blurRad="476250" dist="190500" dir="5400000">
              <a:srgbClr val="283C5A">
                <a:alpha val="3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1567997" y="3259954"/>
            <a:ext cx="4566214" cy="38933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1324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 Manager</a:t>
            </a:r>
            <a:endParaRPr lang="en-US" sz="2100" dirty="0"/>
          </a:p>
        </p:txBody>
      </p:sp>
      <p:sp>
        <p:nvSpPr>
          <p:cNvPr id="6" name="Text 4"/>
          <p:cNvSpPr/>
          <p:nvPr/>
        </p:nvSpPr>
        <p:spPr>
          <a:xfrm>
            <a:off x="1567997" y="3687370"/>
            <a:ext cx="4566214" cy="19288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spc="147" kern="0" dirty="0">
                <a:solidFill>
                  <a:srgbClr val="5563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ROADMAP &amp; PRIORITIZATION CALLS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1567997" y="4013582"/>
            <a:ext cx="4566214" cy="6380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575" dirty="0">
                <a:solidFill>
                  <a:srgbClr val="5F6B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Defend a pivot, kill, or bet with the trade-off made explicit.</a:t>
            </a:r>
            <a:endParaRPr lang="en-US" sz="1575" dirty="0"/>
          </a:p>
        </p:txBody>
      </p:sp>
      <p:sp>
        <p:nvSpPr>
          <p:cNvPr id="8" name="Shape 6"/>
          <p:cNvSpPr/>
          <p:nvPr/>
        </p:nvSpPr>
        <p:spPr>
          <a:xfrm>
            <a:off x="6578575" y="2911138"/>
            <a:ext cx="5130850" cy="2051224"/>
          </a:xfrm>
          <a:prstGeom prst="roundRect">
            <a:avLst>
              <a:gd name="adj" fmla="val 8358"/>
            </a:avLst>
          </a:prstGeom>
          <a:solidFill>
            <a:srgbClr val="FFFFFF"/>
          </a:solidFill>
          <a:ln w="5953">
            <a:solidFill>
              <a:srgbClr val="28281E">
                <a:alpha val="10000"/>
              </a:srgbClr>
            </a:solidFill>
            <a:prstDash val="solid"/>
          </a:ln>
          <a:effectLst>
            <a:outerShdw sx="100000" sy="100000" kx="0" ky="0" algn="bl" rotWithShape="0" blurRad="476250" dist="190500" dir="5400000">
              <a:srgbClr val="283C5A">
                <a:alpha val="3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6927391" y="3259954"/>
            <a:ext cx="4566214" cy="38933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1324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 Lead / Engineer</a:t>
            </a:r>
            <a:endParaRPr lang="en-US" sz="2100" dirty="0"/>
          </a:p>
        </p:txBody>
      </p:sp>
      <p:sp>
        <p:nvSpPr>
          <p:cNvPr id="10" name="Text 8"/>
          <p:cNvSpPr/>
          <p:nvPr/>
        </p:nvSpPr>
        <p:spPr>
          <a:xfrm>
            <a:off x="6927391" y="3687370"/>
            <a:ext cx="4566214" cy="19288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spc="147" kern="0" dirty="0">
                <a:solidFill>
                  <a:srgbClr val="5563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ARCHITECTURE &amp; DESIGN REVIEWS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6927391" y="4013582"/>
            <a:ext cx="4566214" cy="6380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575" dirty="0">
                <a:solidFill>
                  <a:srgbClr val="5F6B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Make the why behind a technical decision land with non-engineers.</a:t>
            </a:r>
            <a:endParaRPr lang="en-US" sz="1575" dirty="0"/>
          </a:p>
        </p:txBody>
      </p:sp>
      <p:sp>
        <p:nvSpPr>
          <p:cNvPr id="12" name="Shape 10"/>
          <p:cNvSpPr/>
          <p:nvPr/>
        </p:nvSpPr>
        <p:spPr>
          <a:xfrm>
            <a:off x="11937969" y="2911138"/>
            <a:ext cx="5130850" cy="2051224"/>
          </a:xfrm>
          <a:prstGeom prst="roundRect">
            <a:avLst>
              <a:gd name="adj" fmla="val 8358"/>
            </a:avLst>
          </a:prstGeom>
          <a:solidFill>
            <a:srgbClr val="FFFFFF"/>
          </a:solidFill>
          <a:ln w="5953">
            <a:solidFill>
              <a:srgbClr val="28281E">
                <a:alpha val="10000"/>
              </a:srgbClr>
            </a:solidFill>
            <a:prstDash val="solid"/>
          </a:ln>
          <a:effectLst>
            <a:outerShdw sx="100000" sy="100000" kx="0" ky="0" algn="bl" rotWithShape="0" blurRad="476250" dist="190500" dir="5400000">
              <a:srgbClr val="283C5A">
                <a:alpha val="3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12286785" y="3259954"/>
            <a:ext cx="4566214" cy="38933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1324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Analyst / Data</a:t>
            </a:r>
            <a:endParaRPr lang="en-US" sz="2100" dirty="0"/>
          </a:p>
        </p:txBody>
      </p:sp>
      <p:sp>
        <p:nvSpPr>
          <p:cNvPr id="14" name="Text 12"/>
          <p:cNvSpPr/>
          <p:nvPr/>
        </p:nvSpPr>
        <p:spPr>
          <a:xfrm>
            <a:off x="12286785" y="3687370"/>
            <a:ext cx="4566214" cy="19288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spc="147" kern="0" dirty="0">
                <a:solidFill>
                  <a:srgbClr val="5563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DATA PRESENTATIONS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12286785" y="4013582"/>
            <a:ext cx="4566214" cy="6380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575" dirty="0">
                <a:solidFill>
                  <a:srgbClr val="5F6B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Turn a chart into a decision instead of a discussion.</a:t>
            </a:r>
            <a:endParaRPr lang="en-US" sz="1575" dirty="0"/>
          </a:p>
        </p:txBody>
      </p:sp>
      <p:sp>
        <p:nvSpPr>
          <p:cNvPr id="16" name="Shape 14"/>
          <p:cNvSpPr/>
          <p:nvPr/>
        </p:nvSpPr>
        <p:spPr>
          <a:xfrm>
            <a:off x="1219181" y="5190906"/>
            <a:ext cx="5130850" cy="2051223"/>
          </a:xfrm>
          <a:prstGeom prst="roundRect">
            <a:avLst>
              <a:gd name="adj" fmla="val 8358"/>
            </a:avLst>
          </a:prstGeom>
          <a:solidFill>
            <a:srgbClr val="FFFFFF"/>
          </a:solidFill>
          <a:ln w="5953">
            <a:solidFill>
              <a:srgbClr val="28281E">
                <a:alpha val="10000"/>
              </a:srgbClr>
            </a:solidFill>
            <a:prstDash val="solid"/>
          </a:ln>
          <a:effectLst>
            <a:outerShdw sx="100000" sy="100000" kx="0" ky="0" algn="bl" rotWithShape="0" blurRad="476250" dist="190500" dir="5400000">
              <a:srgbClr val="283C5A">
                <a:alpha val="30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1567997" y="5539722"/>
            <a:ext cx="4566214" cy="38933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1324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Manager / Lead</a:t>
            </a:r>
            <a:endParaRPr lang="en-US" sz="2100" dirty="0"/>
          </a:p>
        </p:txBody>
      </p:sp>
      <p:sp>
        <p:nvSpPr>
          <p:cNvPr id="18" name="Text 16"/>
          <p:cNvSpPr/>
          <p:nvPr/>
        </p:nvSpPr>
        <p:spPr>
          <a:xfrm>
            <a:off x="1567997" y="5967138"/>
            <a:ext cx="4566214" cy="19288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spc="147" kern="0" dirty="0">
                <a:solidFill>
                  <a:srgbClr val="5563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PERFORMANCE &amp; CONFLICT TALKS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1567997" y="6293350"/>
            <a:ext cx="4566214" cy="6380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575" dirty="0">
                <a:solidFill>
                  <a:srgbClr val="5F6B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Enter a hard conversation with the outcome you actually want.</a:t>
            </a:r>
            <a:endParaRPr lang="en-US" sz="1575" dirty="0"/>
          </a:p>
        </p:txBody>
      </p:sp>
      <p:sp>
        <p:nvSpPr>
          <p:cNvPr id="20" name="Shape 18"/>
          <p:cNvSpPr/>
          <p:nvPr/>
        </p:nvSpPr>
        <p:spPr>
          <a:xfrm>
            <a:off x="6578575" y="5190906"/>
            <a:ext cx="5130850" cy="2051223"/>
          </a:xfrm>
          <a:prstGeom prst="roundRect">
            <a:avLst>
              <a:gd name="adj" fmla="val 8358"/>
            </a:avLst>
          </a:prstGeom>
          <a:solidFill>
            <a:srgbClr val="FFFFFF"/>
          </a:solidFill>
          <a:ln w="5953">
            <a:solidFill>
              <a:srgbClr val="28281E">
                <a:alpha val="10000"/>
              </a:srgbClr>
            </a:solidFill>
            <a:prstDash val="solid"/>
          </a:ln>
          <a:effectLst>
            <a:outerShdw sx="100000" sy="100000" kx="0" ky="0" algn="bl" rotWithShape="0" blurRad="476250" dist="190500" dir="5400000">
              <a:srgbClr val="283C5A">
                <a:alpha val="30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6927391" y="5539722"/>
            <a:ext cx="4566214" cy="38933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1324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Job Seeker</a:t>
            </a:r>
            <a:endParaRPr lang="en-US" sz="2100" dirty="0"/>
          </a:p>
        </p:txBody>
      </p:sp>
      <p:sp>
        <p:nvSpPr>
          <p:cNvPr id="22" name="Text 20"/>
          <p:cNvSpPr/>
          <p:nvPr/>
        </p:nvSpPr>
        <p:spPr>
          <a:xfrm>
            <a:off x="6927391" y="5967138"/>
            <a:ext cx="4566214" cy="19288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spc="147" kern="0" dirty="0">
                <a:solidFill>
                  <a:srgbClr val="5563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INTERVIEWS &amp; PANELS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6927391" y="6293350"/>
            <a:ext cx="4566214" cy="33808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575" dirty="0">
                <a:solidFill>
                  <a:srgbClr val="5F6B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Anticipate the question behind the question.</a:t>
            </a:r>
            <a:endParaRPr lang="en-US" sz="1575" dirty="0"/>
          </a:p>
        </p:txBody>
      </p:sp>
      <p:sp>
        <p:nvSpPr>
          <p:cNvPr id="24" name="Shape 22"/>
          <p:cNvSpPr/>
          <p:nvPr/>
        </p:nvSpPr>
        <p:spPr>
          <a:xfrm>
            <a:off x="11937969" y="5190906"/>
            <a:ext cx="5130850" cy="2051223"/>
          </a:xfrm>
          <a:prstGeom prst="roundRect">
            <a:avLst>
              <a:gd name="adj" fmla="val 8358"/>
            </a:avLst>
          </a:prstGeom>
          <a:solidFill>
            <a:srgbClr val="FFFFFF"/>
          </a:solidFill>
          <a:ln w="5953">
            <a:solidFill>
              <a:srgbClr val="28281E">
                <a:alpha val="10000"/>
              </a:srgbClr>
            </a:solidFill>
            <a:prstDash val="solid"/>
          </a:ln>
          <a:effectLst>
            <a:outerShdw sx="100000" sy="100000" kx="0" ky="0" algn="bl" rotWithShape="0" blurRad="476250" dist="190500" dir="5400000">
              <a:srgbClr val="283C5A">
                <a:alpha val="30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12286785" y="5539722"/>
            <a:ext cx="4566214" cy="38933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1324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Founder / Executive</a:t>
            </a:r>
            <a:endParaRPr lang="en-US" sz="2100" dirty="0"/>
          </a:p>
        </p:txBody>
      </p:sp>
      <p:sp>
        <p:nvSpPr>
          <p:cNvPr id="26" name="Text 24"/>
          <p:cNvSpPr/>
          <p:nvPr/>
        </p:nvSpPr>
        <p:spPr>
          <a:xfrm>
            <a:off x="12286785" y="5967138"/>
            <a:ext cx="4566214" cy="19288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spc="147" kern="0" dirty="0">
                <a:solidFill>
                  <a:srgbClr val="5563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BOARD &amp; INVESTOR UPDATES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12286785" y="6293350"/>
            <a:ext cx="4566214" cy="6380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575" dirty="0">
                <a:solidFill>
                  <a:srgbClr val="5F6B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Walk in knowing the one number they will press on.</a:t>
            </a:r>
            <a:endParaRPr lang="en-US" sz="1575" dirty="0"/>
          </a:p>
        </p:txBody>
      </p:sp>
      <p:sp>
        <p:nvSpPr>
          <p:cNvPr id="28" name="Text 26"/>
          <p:cNvSpPr/>
          <p:nvPr/>
        </p:nvSpPr>
        <p:spPr>
          <a:xfrm>
            <a:off x="1219181" y="9569090"/>
            <a:ext cx="950751" cy="22264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275" dirty="0">
                <a:solidFill>
                  <a:srgbClr val="2E3C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PROBEN.IO</a:t>
            </a:r>
            <a:endParaRPr lang="en-US" sz="1275" dirty="0"/>
          </a:p>
        </p:txBody>
      </p:sp>
      <p:sp>
        <p:nvSpPr>
          <p:cNvPr id="29" name="Text 27"/>
          <p:cNvSpPr/>
          <p:nvPr/>
        </p:nvSpPr>
        <p:spPr>
          <a:xfrm>
            <a:off x="16388581" y="9569090"/>
            <a:ext cx="756438" cy="22264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75" dirty="0">
                <a:solidFill>
                  <a:srgbClr val="8A94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08 / 09</a:t>
            </a:r>
            <a:endParaRPr lang="en-US" sz="1275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6F7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219181" y="2160519"/>
            <a:ext cx="1868928" cy="2702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425" spc="314" kern="0" dirty="0">
                <a:solidFill>
                  <a:srgbClr val="5563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GET READY</a:t>
            </a:r>
            <a:endParaRPr lang="en-US" sz="1425" dirty="0"/>
          </a:p>
        </p:txBody>
      </p:sp>
      <p:sp>
        <p:nvSpPr>
          <p:cNvPr id="3" name="Text 1"/>
          <p:cNvSpPr/>
          <p:nvPr/>
        </p:nvSpPr>
        <p:spPr>
          <a:xfrm>
            <a:off x="1219181" y="2679052"/>
            <a:ext cx="11817355" cy="21776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8100" b="1" spc="-203" kern="0" dirty="0">
                <a:solidFill>
                  <a:srgbClr val="1324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Know what to fix before the meeting starts.</a:t>
            </a:r>
            <a:endParaRPr lang="en-US" sz="8100" dirty="0"/>
          </a:p>
        </p:txBody>
      </p:sp>
      <p:sp>
        <p:nvSpPr>
          <p:cNvPr id="4" name="Text 2"/>
          <p:cNvSpPr/>
          <p:nvPr/>
        </p:nvSpPr>
        <p:spPr>
          <a:xfrm>
            <a:off x="1219181" y="5182803"/>
            <a:ext cx="9614535" cy="9524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2400" dirty="0">
                <a:solidFill>
                  <a:srgbClr val="5F6B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account required. Use rough notes. Not a personality score — just a clear read on whether your argument is ready.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1219181" y="6635235"/>
            <a:ext cx="3616058" cy="782092"/>
          </a:xfrm>
          <a:prstGeom prst="roundRect">
            <a:avLst>
              <a:gd name="adj" fmla="val 17050"/>
            </a:avLst>
          </a:prstGeom>
          <a:solidFill>
            <a:srgbClr val="A6C94A"/>
          </a:solidFill>
          <a:ln/>
        </p:spPr>
      </p:sp>
      <p:sp>
        <p:nvSpPr>
          <p:cNvPr id="6" name="Text 4"/>
          <p:cNvSpPr/>
          <p:nvPr/>
        </p:nvSpPr>
        <p:spPr>
          <a:xfrm>
            <a:off x="1587085" y="6850738"/>
            <a:ext cx="2988734" cy="38918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1B2A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Run readiness check →</a:t>
            </a:r>
            <a:endParaRPr lang="en-US" sz="2100" dirty="0"/>
          </a:p>
        </p:txBody>
      </p:sp>
      <p:sp>
        <p:nvSpPr>
          <p:cNvPr id="7" name="Shape 5"/>
          <p:cNvSpPr/>
          <p:nvPr/>
        </p:nvSpPr>
        <p:spPr>
          <a:xfrm>
            <a:off x="5025740" y="6635235"/>
            <a:ext cx="2945495" cy="782092"/>
          </a:xfrm>
          <a:prstGeom prst="roundRect">
            <a:avLst>
              <a:gd name="adj" fmla="val 17050"/>
            </a:avLst>
          </a:prstGeom>
          <a:solidFill>
            <a:srgbClr val="FFFFFF"/>
          </a:solidFill>
          <a:ln w="5953">
            <a:solidFill>
              <a:srgbClr val="CAD3C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393643" y="6850738"/>
            <a:ext cx="2298053" cy="38918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1324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See sample report</a:t>
            </a:r>
            <a:endParaRPr lang="en-US" sz="2100" dirty="0"/>
          </a:p>
        </p:txBody>
      </p:sp>
      <p:sp>
        <p:nvSpPr>
          <p:cNvPr id="9" name="Text 7"/>
          <p:cNvSpPr/>
          <p:nvPr/>
        </p:nvSpPr>
        <p:spPr>
          <a:xfrm>
            <a:off x="1219181" y="7940390"/>
            <a:ext cx="5369182" cy="24050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425" spc="171" kern="0" dirty="0">
                <a:solidFill>
                  <a:srgbClr val="8A94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PROBEN.IO · FREE TO START · PRO €12 / MO</a:t>
            </a:r>
            <a:endParaRPr lang="en-US" sz="1425" dirty="0"/>
          </a:p>
        </p:txBody>
      </p:sp>
      <p:sp>
        <p:nvSpPr>
          <p:cNvPr id="10" name="Text 8"/>
          <p:cNvSpPr/>
          <p:nvPr/>
        </p:nvSpPr>
        <p:spPr>
          <a:xfrm>
            <a:off x="1219181" y="9569090"/>
            <a:ext cx="950751" cy="22264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275" dirty="0">
                <a:solidFill>
                  <a:srgbClr val="2E3C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PROBEN.IO</a:t>
            </a:r>
            <a:endParaRPr lang="en-US" sz="1275" dirty="0"/>
          </a:p>
        </p:txBody>
      </p:sp>
      <p:sp>
        <p:nvSpPr>
          <p:cNvPr id="11" name="Text 9"/>
          <p:cNvSpPr/>
          <p:nvPr/>
        </p:nvSpPr>
        <p:spPr>
          <a:xfrm>
            <a:off x="16388581" y="9569090"/>
            <a:ext cx="756438" cy="22264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75" dirty="0">
                <a:solidFill>
                  <a:srgbClr val="8A94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09 / 09</a:t>
            </a:r>
            <a:endParaRPr lang="en-US" sz="1275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2026-06-08T13:34:34Z</dcterms:created>
  <dcterms:modified xsi:type="dcterms:W3CDTF">2026-06-08T13:34:34Z</dcterms:modified>
</cp:coreProperties>
</file>